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5"/>
  </p:notesMasterIdLst>
  <p:handoutMasterIdLst>
    <p:handoutMasterId r:id="rId16"/>
  </p:handoutMasterIdLst>
  <p:sldIdLst>
    <p:sldId id="256" r:id="rId2"/>
    <p:sldId id="257" r:id="rId3"/>
    <p:sldId id="267" r:id="rId4"/>
    <p:sldId id="260" r:id="rId5"/>
    <p:sldId id="261" r:id="rId6"/>
    <p:sldId id="271" r:id="rId7"/>
    <p:sldId id="272" r:id="rId8"/>
    <p:sldId id="262" r:id="rId9"/>
    <p:sldId id="273" r:id="rId10"/>
    <p:sldId id="274" r:id="rId11"/>
    <p:sldId id="276" r:id="rId12"/>
    <p:sldId id="264" r:id="rId13"/>
    <p:sldId id="2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CF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14" autoAdjust="0"/>
    <p:restoredTop sz="94650"/>
  </p:normalViewPr>
  <p:slideViewPr>
    <p:cSldViewPr snapToGrid="0">
      <p:cViewPr varScale="1">
        <p:scale>
          <a:sx n="114" d="100"/>
          <a:sy n="114" d="100"/>
        </p:scale>
        <p:origin x="192" y="51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5CF78B-0D02-43A8-8325-9A38699910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5A064DB-86DC-44DA-B98A-E0129676CCF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27956B-5CC6-4F37-A5D3-8ADAA93DFC00}" type="datetimeFigureOut">
              <a:rPr lang="en-US" smtClean="0"/>
              <a:t>2/27/26</a:t>
            </a:fld>
            <a:endParaRPr lang="en-US"/>
          </a:p>
        </p:txBody>
      </p:sp>
      <p:sp>
        <p:nvSpPr>
          <p:cNvPr id="4" name="Footer Placeholder 3">
            <a:extLst>
              <a:ext uri="{FF2B5EF4-FFF2-40B4-BE49-F238E27FC236}">
                <a16:creationId xmlns:a16="http://schemas.microsoft.com/office/drawing/2014/main" id="{A4B8F9F5-FED8-429A-9A1F-BD8A63DB1D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FFFA3D-8B0E-438A-B175-82F98F7A1E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1F1B97-8606-4AF2-A4CA-5AF47D76D7D0}" type="slidenum">
              <a:rPr lang="en-US" smtClean="0"/>
              <a:t>‹#›</a:t>
            </a:fld>
            <a:endParaRPr lang="en-US"/>
          </a:p>
        </p:txBody>
      </p:sp>
    </p:spTree>
    <p:extLst>
      <p:ext uri="{BB962C8B-B14F-4D97-AF65-F5344CB8AC3E}">
        <p14:creationId xmlns:p14="http://schemas.microsoft.com/office/powerpoint/2010/main" val="39418152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5F674-8DD1-4DA8-A2C3-D3B89A602C88}" type="datetimeFigureOut">
              <a:rPr lang="en-IN" smtClean="0"/>
              <a:t>27/02/26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A3B30-A2B2-41BD-A49E-20DE79328994}" type="slidenum">
              <a:rPr lang="en-IN" smtClean="0"/>
              <a:t>‹#›</a:t>
            </a:fld>
            <a:endParaRPr lang="en-IN"/>
          </a:p>
        </p:txBody>
      </p:sp>
    </p:spTree>
    <p:extLst>
      <p:ext uri="{BB962C8B-B14F-4D97-AF65-F5344CB8AC3E}">
        <p14:creationId xmlns:p14="http://schemas.microsoft.com/office/powerpoint/2010/main" val="1872293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32A3B30-A2B2-41BD-A49E-20DE79328994}" type="slidenum">
              <a:rPr lang="en-IN" smtClean="0"/>
              <a:t>6</a:t>
            </a:fld>
            <a:endParaRPr lang="en-IN"/>
          </a:p>
        </p:txBody>
      </p:sp>
    </p:spTree>
    <p:extLst>
      <p:ext uri="{BB962C8B-B14F-4D97-AF65-F5344CB8AC3E}">
        <p14:creationId xmlns:p14="http://schemas.microsoft.com/office/powerpoint/2010/main" val="2855604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
        <p:nvSpPr>
          <p:cNvPr id="7"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6321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23083"/>
            <a:ext cx="10515600" cy="1325563"/>
          </a:xfrm>
        </p:spPr>
        <p:txBody>
          <a:bodyPr/>
          <a:lstStyle/>
          <a:p>
            <a:r>
              <a:rPr lang="en-US" dirty="0"/>
              <a:t>Click to edit Master title style</a:t>
            </a:r>
          </a:p>
        </p:txBody>
      </p:sp>
      <p:sp>
        <p:nvSpPr>
          <p:cNvPr id="3" name="Content Placeholder 2"/>
          <p:cNvSpPr>
            <a:spLocks noGrp="1"/>
          </p:cNvSpPr>
          <p:nvPr>
            <p:ph idx="1"/>
          </p:nvPr>
        </p:nvSpPr>
        <p:spPr>
          <a:xfrm>
            <a:off x="838200" y="1819764"/>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041334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952685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481844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dirty="0"/>
              <a:t>Paper ID : 2602XXX             Category : UG / PG / RS / Faculty </a:t>
            </a:r>
          </a:p>
        </p:txBody>
      </p:sp>
      <p:sp>
        <p:nvSpPr>
          <p:cNvPr id="9" name="Slide Number Placeholder 8"/>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28282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dirty="0"/>
              <a:t>Paper ID : 2602XXX             Category : UG / PG / RS / Faculty </a:t>
            </a:r>
          </a:p>
        </p:txBody>
      </p:sp>
      <p:sp>
        <p:nvSpPr>
          <p:cNvPr id="5" name="Slide Number Placeholder 4"/>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342317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dirty="0"/>
              <a:t>Paper ID : 2602XXX             Category : UG / PG / RS / Faculty </a:t>
            </a:r>
          </a:p>
        </p:txBody>
      </p:sp>
      <p:sp>
        <p:nvSpPr>
          <p:cNvPr id="4" name="Slide Number Placeholder 3"/>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503511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106664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a:t>Paper ID : 2602XXX             Category : UG / PG / RS / Faculty </a:t>
            </a:r>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957687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0565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a:t>Paper ID : 2602XXX             Category : UG / PG / RS / Faculty </a:t>
            </a:r>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214816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Ref idx="1002">
        <a:schemeClr val="bg2"/>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F274645-626C-4692-8BCF-900900B0A95E}"/>
              </a:ext>
            </a:extLst>
          </p:cNvPr>
          <p:cNvSpPr>
            <a:spLocks noGrp="1"/>
          </p:cNvSpPr>
          <p:nvPr>
            <p:ph type="ftr" sz="quarter" idx="11"/>
          </p:nvPr>
        </p:nvSpPr>
        <p:spPr>
          <a:xfrm>
            <a:off x="2086495" y="6143106"/>
            <a:ext cx="6066905" cy="578370"/>
          </a:xfrm>
        </p:spPr>
        <p:txBody>
          <a:bodyPr/>
          <a:lstStyle>
            <a:lvl1pPr>
              <a:defRPr b="0">
                <a:solidFill>
                  <a:srgbClr val="00B0F0"/>
                </a:solidFill>
                <a:effectLst/>
                <a:latin typeface="Tahoma" panose="020B0604030504040204" pitchFamily="34" charset="0"/>
                <a:ea typeface="Tahoma" panose="020B0604030504040204" pitchFamily="34" charset="0"/>
                <a:cs typeface="Tahoma" panose="020B0604030504040204" pitchFamily="34" charset="0"/>
              </a:defRPr>
            </a:lvl1pPr>
          </a:lstStyle>
          <a:p>
            <a:r>
              <a:rPr lang="en-US" b="1" dirty="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rPr>
              <a:t>Paper ID : 2602XXX             Category : UG / PG / RS / Faculty </a:t>
            </a:r>
            <a:endParaRPr lang="en-US" i="1" dirty="0"/>
          </a:p>
        </p:txBody>
      </p:sp>
      <p:sp>
        <p:nvSpPr>
          <p:cNvPr id="6" name="Slide Number Placeholder 5">
            <a:extLst>
              <a:ext uri="{FF2B5EF4-FFF2-40B4-BE49-F238E27FC236}">
                <a16:creationId xmlns:a16="http://schemas.microsoft.com/office/drawing/2014/main" id="{99F76F3A-A1BA-4CE5-8555-EA0ABA80E65C}"/>
              </a:ext>
            </a:extLst>
          </p:cNvPr>
          <p:cNvSpPr>
            <a:spLocks noGrp="1"/>
          </p:cNvSpPr>
          <p:nvPr>
            <p:ph type="sldNum" sz="quarter" idx="12"/>
          </p:nvPr>
        </p:nvSpPr>
        <p:spPr/>
        <p:txBody>
          <a:bodyPr/>
          <a:lstStyle/>
          <a:p>
            <a:fld id="{7CF33057-8DAF-4BD3-BA1F-F058DBAFCA35}" type="slidenum">
              <a:rPr lang="en-US" smtClean="0"/>
              <a:t>‹#›</a:t>
            </a:fld>
            <a:endParaRPr lang="en-US"/>
          </a:p>
        </p:txBody>
      </p:sp>
      <p:sp>
        <p:nvSpPr>
          <p:cNvPr id="13" name="Title 1">
            <a:extLst>
              <a:ext uri="{FF2B5EF4-FFF2-40B4-BE49-F238E27FC236}">
                <a16:creationId xmlns:a16="http://schemas.microsoft.com/office/drawing/2014/main" id="{B3D41281-6D2C-4F3C-BA8F-87299BEEBCF5}"/>
              </a:ext>
            </a:extLst>
          </p:cNvPr>
          <p:cNvSpPr txBox="1">
            <a:spLocks/>
          </p:cNvSpPr>
          <p:nvPr userDrawn="1"/>
        </p:nvSpPr>
        <p:spPr>
          <a:xfrm>
            <a:off x="1664836" y="804875"/>
            <a:ext cx="8387541" cy="830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15000"/>
              </a:lnSpc>
              <a:spcBef>
                <a:spcPts val="0"/>
              </a:spcBef>
            </a:pPr>
            <a:r>
              <a:rPr lang="en-US" sz="24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Third International Conference on Futuristic Trends in Science, Engineering, and Management (ICFTSEM-III) 2026</a:t>
            </a:r>
          </a:p>
        </p:txBody>
      </p:sp>
      <p:sp>
        <p:nvSpPr>
          <p:cNvPr id="14" name="TextBox 13">
            <a:extLst>
              <a:ext uri="{FF2B5EF4-FFF2-40B4-BE49-F238E27FC236}">
                <a16:creationId xmlns:a16="http://schemas.microsoft.com/office/drawing/2014/main" id="{D76A6572-F46A-46D8-98AF-31310E42C274}"/>
              </a:ext>
            </a:extLst>
          </p:cNvPr>
          <p:cNvSpPr txBox="1"/>
          <p:nvPr userDrawn="1"/>
        </p:nvSpPr>
        <p:spPr>
          <a:xfrm>
            <a:off x="2786827" y="1760440"/>
            <a:ext cx="5914292" cy="808619"/>
          </a:xfrm>
          <a:prstGeom prst="rect">
            <a:avLst/>
          </a:prstGeom>
          <a:noFill/>
        </p:spPr>
        <p:txBody>
          <a:bodyPr wrap="square" rtlCol="0">
            <a:spAutoFit/>
          </a:bodyPr>
          <a:lstStyle/>
          <a:p>
            <a:pPr algn="ctr">
              <a:lnSpc>
                <a:spcPct val="115000"/>
              </a:lnSpc>
              <a:spcBef>
                <a:spcPts val="0"/>
              </a:spcBef>
            </a:pPr>
            <a:r>
              <a:rPr lang="en-US" sz="44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ICFTSEM-III -  2026</a:t>
            </a:r>
            <a:endParaRPr lang="en-US" sz="48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DC305E64-782B-4467-B6FE-F3A1AD6FF595}"/>
              </a:ext>
            </a:extLst>
          </p:cNvPr>
          <p:cNvSpPr txBox="1"/>
          <p:nvPr userDrawn="1"/>
        </p:nvSpPr>
        <p:spPr>
          <a:xfrm>
            <a:off x="1690058" y="3081672"/>
            <a:ext cx="8704813" cy="923330"/>
          </a:xfrm>
          <a:prstGeom prst="rect">
            <a:avLst/>
          </a:prstGeom>
          <a:noFill/>
        </p:spPr>
        <p:txBody>
          <a:bodyPr wrap="square">
            <a:spAutoFit/>
          </a:bodyPr>
          <a:lstStyle/>
          <a:p>
            <a:r>
              <a:rPr lang="en-US" b="1" dirty="0"/>
              <a:t>Organised by </a:t>
            </a:r>
          </a:p>
          <a:p>
            <a:r>
              <a:rPr lang="en-US" sz="1800" b="0" i="0" kern="1200" dirty="0">
                <a:solidFill>
                  <a:schemeClr val="tx1"/>
                </a:solidFill>
                <a:effectLst/>
                <a:latin typeface="+mn-lt"/>
                <a:ea typeface="+mn-ea"/>
                <a:cs typeface="+mn-cs"/>
              </a:rPr>
              <a:t>Jointly Organized by School of Management, Xavier University, Patna, India &amp; Global Conference Hub, Coimbatore, Tamil Nadu, India.</a:t>
            </a:r>
            <a:endParaRPr lang="en-US" sz="1600" b="0" i="1" dirty="0"/>
          </a:p>
        </p:txBody>
      </p:sp>
      <p:sp>
        <p:nvSpPr>
          <p:cNvPr id="17" name="TextBox 16">
            <a:extLst>
              <a:ext uri="{FF2B5EF4-FFF2-40B4-BE49-F238E27FC236}">
                <a16:creationId xmlns:a16="http://schemas.microsoft.com/office/drawing/2014/main" id="{B49173D2-8A0B-4D79-8A6A-6C57D2CD14E6}"/>
              </a:ext>
            </a:extLst>
          </p:cNvPr>
          <p:cNvSpPr txBox="1"/>
          <p:nvPr userDrawn="1"/>
        </p:nvSpPr>
        <p:spPr>
          <a:xfrm>
            <a:off x="8974388" y="2326364"/>
            <a:ext cx="2638097" cy="307777"/>
          </a:xfrm>
          <a:prstGeom prst="rect">
            <a:avLst/>
          </a:prstGeom>
          <a:solidFill>
            <a:srgbClr val="0070C0"/>
          </a:solidFill>
        </p:spPr>
        <p:txBody>
          <a:bodyPr wrap="square">
            <a:spAutoFit/>
          </a:bodyPr>
          <a:lstStyle/>
          <a:p>
            <a:pPr algn="r"/>
            <a:r>
              <a:rPr lang="en-US" sz="1400" b="1" kern="1200" dirty="0">
                <a:solidFill>
                  <a:schemeClr val="tx1"/>
                </a:solidFill>
                <a:latin typeface="+mn-lt"/>
                <a:ea typeface="+mn-ea"/>
                <a:cs typeface="+mn-cs"/>
              </a:rPr>
              <a:t>Dates:27.02.2026 &amp; 28.02.2026</a:t>
            </a:r>
            <a:endParaRPr lang="en-US" sz="1400" b="1" dirty="0"/>
          </a:p>
        </p:txBody>
      </p:sp>
    </p:spTree>
    <p:extLst>
      <p:ext uri="{BB962C8B-B14F-4D97-AF65-F5344CB8AC3E}">
        <p14:creationId xmlns:p14="http://schemas.microsoft.com/office/powerpoint/2010/main" val="6307094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DA2F-E874-4EAA-9B06-D16CC8F009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987C09-00AE-4433-9195-4932143E9D0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97AECED-DAEE-43B9-873F-E38BC2696C79}"/>
              </a:ext>
            </a:extLst>
          </p:cNvPr>
          <p:cNvSpPr>
            <a:spLocks noGrp="1"/>
          </p:cNvSpPr>
          <p:nvPr>
            <p:ph type="ftr" sz="quarter" idx="11"/>
          </p:nvPr>
        </p:nvSpPr>
        <p:spPr/>
        <p:txBody>
          <a:bodyPr/>
          <a:lstStyle/>
          <a:p>
            <a:r>
              <a:rPr lang="en-US" dirty="0"/>
              <a:t>Paper ID : 2602XXX             Category : UG / PG / RS / Faculty </a:t>
            </a:r>
          </a:p>
        </p:txBody>
      </p:sp>
      <p:sp>
        <p:nvSpPr>
          <p:cNvPr id="5" name="Slide Number Placeholder 4">
            <a:extLst>
              <a:ext uri="{FF2B5EF4-FFF2-40B4-BE49-F238E27FC236}">
                <a16:creationId xmlns:a16="http://schemas.microsoft.com/office/drawing/2014/main" id="{551A90C2-1E24-4DC9-B2C7-AB830A5B07E8}"/>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259697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3361-A1AA-454B-ADB4-42D5599FE3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23C3CD-E15C-44EC-821E-6000F681AB0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FC9CC74F-E207-417C-869F-8D50FAEFC532}"/>
              </a:ext>
            </a:extLst>
          </p:cNvPr>
          <p:cNvSpPr>
            <a:spLocks noGrp="1"/>
          </p:cNvSpPr>
          <p:nvPr>
            <p:ph type="ftr" sz="quarter" idx="11"/>
          </p:nvPr>
        </p:nvSpPr>
        <p:spPr/>
        <p:txBody>
          <a:bodyPr/>
          <a:lstStyle/>
          <a:p>
            <a:r>
              <a:rPr lang="en-US" dirty="0"/>
              <a:t>Paper ID : 2602XXX             Category : UG / PG / RS / Faculty </a:t>
            </a:r>
          </a:p>
        </p:txBody>
      </p:sp>
      <p:sp>
        <p:nvSpPr>
          <p:cNvPr id="5" name="Slide Number Placeholder 4">
            <a:extLst>
              <a:ext uri="{FF2B5EF4-FFF2-40B4-BE49-F238E27FC236}">
                <a16:creationId xmlns:a16="http://schemas.microsoft.com/office/drawing/2014/main" id="{D670CB11-0AE3-49DF-8BEC-719DBAE0D7BB}"/>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25139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Paper ID : 2602XXX             Category : UG / PG / RS / Faculty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F33057-8DAF-4BD3-BA1F-F058DBAFCA35}" type="slidenum">
              <a:rPr lang="en-US" smtClean="0"/>
              <a:t>‹#›</a:t>
            </a:fld>
            <a:endParaRPr lang="en-US"/>
          </a:p>
        </p:txBody>
      </p:sp>
      <p:pic>
        <p:nvPicPr>
          <p:cNvPr id="8" name="Picture 7"/>
          <p:cNvPicPr>
            <a:picLocks noChangeAspect="1"/>
          </p:cNvPicPr>
          <p:nvPr userDrawn="1"/>
        </p:nvPicPr>
        <p:blipFill>
          <a:blip r:embed="rId16" cstate="hqprint">
            <a:extLst>
              <a:ext uri="{28A0092B-C50C-407E-A947-70E740481C1C}">
                <a14:useLocalDpi xmlns:a14="http://schemas.microsoft.com/office/drawing/2010/main" val="0"/>
              </a:ext>
            </a:extLst>
          </a:blip>
          <a:stretch>
            <a:fillRect/>
          </a:stretch>
        </p:blipFill>
        <p:spPr>
          <a:xfrm>
            <a:off x="0" y="-29807"/>
            <a:ext cx="1489835" cy="1298367"/>
          </a:xfrm>
          <a:prstGeom prst="rect">
            <a:avLst/>
          </a:prstGeom>
        </p:spPr>
      </p:pic>
      <p:sp>
        <p:nvSpPr>
          <p:cNvPr id="9"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2"/>
          <p:cNvSpPr>
            <a:spLocks noChangeArrowheads="1"/>
          </p:cNvSpPr>
          <p:nvPr userDrawn="1"/>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3"/>
          <p:cNvSpPr>
            <a:spLocks noChangeArrowheads="1"/>
          </p:cNvSpPr>
          <p:nvPr userDrawn="1"/>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4"/>
          <p:cNvSpPr>
            <a:spLocks noChangeArrowheads="1"/>
          </p:cNvSpPr>
          <p:nvPr userDrawn="1"/>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p:cNvPicPr>
            <a:picLocks noChangeAspect="1"/>
          </p:cNvPicPr>
          <p:nvPr userDrawn="1"/>
        </p:nvPicPr>
        <p:blipFill>
          <a:blip r:embed="rId17"/>
          <a:stretch>
            <a:fillRect/>
          </a:stretch>
        </p:blipFill>
        <p:spPr>
          <a:xfrm>
            <a:off x="10769897" y="0"/>
            <a:ext cx="1399953" cy="1268560"/>
          </a:xfrm>
          <a:prstGeom prst="rect">
            <a:avLst/>
          </a:prstGeom>
        </p:spPr>
      </p:pic>
    </p:spTree>
    <p:extLst>
      <p:ext uri="{BB962C8B-B14F-4D97-AF65-F5344CB8AC3E}">
        <p14:creationId xmlns:p14="http://schemas.microsoft.com/office/powerpoint/2010/main" val="378597512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61" r:id="rId13"/>
    <p:sldLayoutId id="2147483660"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90">
          <a:fgClr>
            <a:schemeClr val="bg2">
              <a:tint val="95000"/>
              <a:satMod val="170000"/>
            </a:schemeClr>
          </a:fgClr>
          <a:bgClr>
            <a:schemeClr val="accent4">
              <a:lumMod val="60000"/>
              <a:lumOff val="40000"/>
            </a:schemeClr>
          </a:bgClr>
        </a:patt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2F9EC0C-6D7D-448A-9AB3-1F513268C2EE}"/>
              </a:ext>
            </a:extLst>
          </p:cNvPr>
          <p:cNvSpPr>
            <a:spLocks noGrp="1"/>
          </p:cNvSpPr>
          <p:nvPr>
            <p:ph type="subTitle" idx="4294967295"/>
          </p:nvPr>
        </p:nvSpPr>
        <p:spPr>
          <a:xfrm>
            <a:off x="1587804" y="4158543"/>
            <a:ext cx="9016392" cy="666750"/>
          </a:xfrm>
        </p:spPr>
        <p:txBody>
          <a:bodyPr>
            <a:noAutofit/>
          </a:bodyPr>
          <a:lstStyle/>
          <a:p>
            <a:pPr marL="0" indent="0" algn="ctr">
              <a:buNone/>
            </a:pPr>
            <a:r>
              <a:rPr lang="en-US" sz="2000" b="1" spc="144" dirty="0">
                <a:solidFill>
                  <a:schemeClr val="bg1"/>
                </a:solidFill>
                <a:highlight>
                  <a:srgbClr val="000080"/>
                </a:highlight>
                <a:latin typeface="Times New Roman" panose="02020603050405020304" pitchFamily="18" charset="0"/>
                <a:cs typeface="Times New Roman" panose="02020603050405020304" pitchFamily="18" charset="0"/>
              </a:rPr>
              <a:t>Paper </a:t>
            </a:r>
            <a:r>
              <a:rPr lang="en-US" sz="2000" b="1" spc="144">
                <a:solidFill>
                  <a:schemeClr val="bg1"/>
                </a:solidFill>
                <a:highlight>
                  <a:srgbClr val="000080"/>
                </a:highlight>
                <a:latin typeface="Times New Roman" panose="02020603050405020304" pitchFamily="18" charset="0"/>
                <a:cs typeface="Times New Roman" panose="02020603050405020304" pitchFamily="18" charset="0"/>
              </a:rPr>
              <a:t>Title : </a:t>
            </a:r>
            <a:r>
              <a:rPr lang="en-US" sz="2000" spc="144">
                <a:solidFill>
                  <a:schemeClr val="bg1"/>
                </a:solidFill>
                <a:highlight>
                  <a:srgbClr val="000080"/>
                </a:highlight>
                <a:latin typeface="Times New Roman" panose="02020603050405020304" pitchFamily="18" charset="0"/>
                <a:cs typeface="Times New Roman" panose="02020603050405020304" pitchFamily="18" charset="0"/>
              </a:rPr>
              <a:t>SURVEY ON</a:t>
            </a:r>
            <a:r>
              <a:rPr lang="en-US" sz="2000" b="1" spc="144">
                <a:solidFill>
                  <a:schemeClr val="bg1"/>
                </a:solidFill>
                <a:highlight>
                  <a:srgbClr val="000080"/>
                </a:highlight>
                <a:latin typeface="Times New Roman" panose="02020603050405020304" pitchFamily="18" charset="0"/>
                <a:cs typeface="Times New Roman" panose="02020603050405020304" pitchFamily="18" charset="0"/>
              </a:rPr>
              <a:t> </a:t>
            </a:r>
            <a:r>
              <a:rPr lang="en-US" sz="2000" dirty="0" err="1">
                <a:solidFill>
                  <a:schemeClr val="bg1"/>
                </a:solidFill>
                <a:highlight>
                  <a:srgbClr val="000080"/>
                </a:highlight>
                <a:latin typeface="Times New Roman" panose="02020603050405020304" pitchFamily="18" charset="0"/>
                <a:cs typeface="Times New Roman" panose="02020603050405020304" pitchFamily="18" charset="0"/>
              </a:rPr>
              <a:t>GRAPHRxINSIGHT</a:t>
            </a:r>
            <a:endParaRPr lang="en-US" sz="2000" i="1" dirty="0">
              <a:solidFill>
                <a:schemeClr val="bg1"/>
              </a:solidFill>
              <a:highlight>
                <a:srgbClr val="000080"/>
              </a:highlight>
              <a:latin typeface="Times New Roman" panose="02020603050405020304" pitchFamily="18" charset="0"/>
              <a:cs typeface="Times New Roman" panose="02020603050405020304" pitchFamily="18" charset="0"/>
            </a:endParaRPr>
          </a:p>
        </p:txBody>
      </p:sp>
      <p:sp>
        <p:nvSpPr>
          <p:cNvPr id="20" name="TextBox 12">
            <a:extLst>
              <a:ext uri="{FF2B5EF4-FFF2-40B4-BE49-F238E27FC236}">
                <a16:creationId xmlns:a16="http://schemas.microsoft.com/office/drawing/2014/main" id="{888D88C6-4587-4696-A2DC-3E45C686C073}"/>
              </a:ext>
            </a:extLst>
          </p:cNvPr>
          <p:cNvSpPr txBox="1"/>
          <p:nvPr/>
        </p:nvSpPr>
        <p:spPr>
          <a:xfrm>
            <a:off x="9806941" y="4825294"/>
            <a:ext cx="1834782" cy="1107996"/>
          </a:xfrm>
          <a:prstGeom prst="rect">
            <a:avLst/>
          </a:prstGeom>
        </p:spPr>
        <p:txBody>
          <a:bodyPr wrap="square" lIns="0" tIns="0" rIns="0" bIns="0" rtlCol="0" anchor="t">
            <a:spAutoFit/>
          </a:bodyPr>
          <a:lstStyle/>
          <a:p>
            <a:pPr algn="r"/>
            <a:r>
              <a:rPr lang="en-US" sz="1200" b="1" i="1" dirty="0">
                <a:solidFill>
                  <a:srgbClr val="000000"/>
                </a:solidFill>
                <a:latin typeface="Times New Roman" panose="02020603050405020304" pitchFamily="18" charset="0"/>
                <a:cs typeface="Times New Roman" panose="02020603050405020304" pitchFamily="18" charset="0"/>
              </a:rPr>
              <a:t>Presented by</a:t>
            </a:r>
          </a:p>
          <a:p>
            <a:pPr algn="r"/>
            <a:r>
              <a:rPr lang="en-US" sz="1200" dirty="0">
                <a:solidFill>
                  <a:srgbClr val="000000"/>
                </a:solidFill>
                <a:latin typeface="Times New Roman" panose="02020603050405020304" pitchFamily="18" charset="0"/>
                <a:cs typeface="Times New Roman" panose="02020603050405020304" pitchFamily="18" charset="0"/>
              </a:rPr>
              <a:t>Mr. Ganesh V</a:t>
            </a:r>
            <a:endParaRPr lang="en-US" sz="1200" i="1" dirty="0">
              <a:solidFill>
                <a:srgbClr val="000000"/>
              </a:solidFill>
              <a:latin typeface="Times New Roman" panose="02020603050405020304" pitchFamily="18" charset="0"/>
              <a:cs typeface="Times New Roman" panose="02020603050405020304" pitchFamily="18" charset="0"/>
            </a:endParaRPr>
          </a:p>
          <a:p>
            <a:pPr algn="r"/>
            <a:r>
              <a:rPr lang="en-US" sz="1200" i="1" dirty="0">
                <a:solidFill>
                  <a:srgbClr val="000000"/>
                </a:solidFill>
                <a:latin typeface="Times New Roman" panose="02020603050405020304" pitchFamily="18" charset="0"/>
                <a:cs typeface="Times New Roman" panose="02020603050405020304" pitchFamily="18" charset="0"/>
              </a:rPr>
              <a:t>Student - UG</a:t>
            </a:r>
          </a:p>
          <a:p>
            <a:pPr algn="r"/>
            <a:r>
              <a:rPr lang="en-US" sz="1200" i="1" dirty="0">
                <a:solidFill>
                  <a:srgbClr val="000000"/>
                </a:solidFill>
                <a:latin typeface="Times New Roman" panose="02020603050405020304" pitchFamily="18" charset="0"/>
                <a:cs typeface="Times New Roman" panose="02020603050405020304" pitchFamily="18" charset="0"/>
              </a:rPr>
              <a:t>Rajiv Gandhi College of Engineering and Technology,</a:t>
            </a:r>
          </a:p>
          <a:p>
            <a:pPr algn="r"/>
            <a:r>
              <a:rPr lang="en-US" sz="1200" i="1" dirty="0">
                <a:solidFill>
                  <a:srgbClr val="000000"/>
                </a:solidFill>
                <a:latin typeface="Times New Roman" panose="02020603050405020304" pitchFamily="18" charset="0"/>
                <a:cs typeface="Times New Roman" panose="02020603050405020304" pitchFamily="18" charset="0"/>
              </a:rPr>
              <a:t>Puducherry</a:t>
            </a:r>
          </a:p>
        </p:txBody>
      </p:sp>
      <p:sp>
        <p:nvSpPr>
          <p:cNvPr id="21" name="TextBox 13">
            <a:extLst>
              <a:ext uri="{FF2B5EF4-FFF2-40B4-BE49-F238E27FC236}">
                <a16:creationId xmlns:a16="http://schemas.microsoft.com/office/drawing/2014/main" id="{1B9DC2CD-1FDA-4098-8536-1028F4B1FD72}"/>
              </a:ext>
            </a:extLst>
          </p:cNvPr>
          <p:cNvSpPr txBox="1"/>
          <p:nvPr/>
        </p:nvSpPr>
        <p:spPr>
          <a:xfrm>
            <a:off x="550278" y="4579072"/>
            <a:ext cx="2479054" cy="2031325"/>
          </a:xfrm>
          <a:prstGeom prst="rect">
            <a:avLst/>
          </a:prstGeom>
        </p:spPr>
        <p:txBody>
          <a:bodyPr wrap="square" lIns="0" tIns="0" rIns="0" bIns="0" rtlCol="0" anchor="t">
            <a:spAutoFit/>
          </a:bodyPr>
          <a:lstStyle/>
          <a:p>
            <a:r>
              <a:rPr lang="en-US" sz="1200" b="1" u="sng" dirty="0">
                <a:solidFill>
                  <a:srgbClr val="000000"/>
                </a:solidFill>
                <a:latin typeface="Times New Roman" panose="02020603050405020304" pitchFamily="18" charset="0"/>
                <a:cs typeface="Times New Roman" panose="02020603050405020304" pitchFamily="18" charset="0"/>
              </a:rPr>
              <a:t>Authors Details</a:t>
            </a:r>
          </a:p>
          <a:p>
            <a:r>
              <a:rPr lang="en-US" sz="1200" dirty="0">
                <a:solidFill>
                  <a:srgbClr val="000000"/>
                </a:solidFill>
                <a:latin typeface="Times New Roman" panose="02020603050405020304" pitchFamily="18" charset="0"/>
                <a:cs typeface="Times New Roman" panose="02020603050405020304" pitchFamily="18" charset="0"/>
              </a:rPr>
              <a:t>Mr. R.G. Suresh Kumar</a:t>
            </a:r>
          </a:p>
          <a:p>
            <a:r>
              <a:rPr lang="en-US" sz="1200" dirty="0">
                <a:solidFill>
                  <a:srgbClr val="000000"/>
                </a:solidFill>
                <a:latin typeface="Times New Roman" panose="02020603050405020304" pitchFamily="18" charset="0"/>
                <a:cs typeface="Times New Roman" panose="02020603050405020304" pitchFamily="18" charset="0"/>
              </a:rPr>
              <a:t>Professor and HOD - CSE</a:t>
            </a:r>
          </a:p>
          <a:p>
            <a:r>
              <a:rPr lang="en-US" sz="1200" dirty="0">
                <a:solidFill>
                  <a:srgbClr val="000000"/>
                </a:solidFill>
                <a:latin typeface="Times New Roman" panose="02020603050405020304" pitchFamily="18" charset="0"/>
                <a:cs typeface="Times New Roman" panose="02020603050405020304" pitchFamily="18" charset="0"/>
              </a:rPr>
              <a:t>Mrs. </a:t>
            </a:r>
            <a:r>
              <a:rPr lang="en-US" sz="1200" dirty="0" err="1">
                <a:solidFill>
                  <a:srgbClr val="000000"/>
                </a:solidFill>
                <a:latin typeface="Times New Roman" panose="02020603050405020304" pitchFamily="18" charset="0"/>
                <a:cs typeface="Times New Roman" panose="02020603050405020304" pitchFamily="18" charset="0"/>
              </a:rPr>
              <a:t>Elakia.K</a:t>
            </a:r>
            <a:endParaRPr lang="en-US" sz="1200" dirty="0">
              <a:solidFill>
                <a:srgbClr val="000000"/>
              </a:solidFill>
              <a:latin typeface="Times New Roman" panose="02020603050405020304" pitchFamily="18" charset="0"/>
              <a:cs typeface="Times New Roman" panose="02020603050405020304" pitchFamily="18" charset="0"/>
            </a:endParaRPr>
          </a:p>
          <a:p>
            <a:r>
              <a:rPr lang="en-US" sz="1200" dirty="0">
                <a:solidFill>
                  <a:srgbClr val="000000"/>
                </a:solidFill>
                <a:latin typeface="Times New Roman" panose="02020603050405020304" pitchFamily="18" charset="0"/>
                <a:cs typeface="Times New Roman" panose="02020603050405020304" pitchFamily="18" charset="0"/>
              </a:rPr>
              <a:t>Assistant Professor - CSE</a:t>
            </a:r>
          </a:p>
          <a:p>
            <a:r>
              <a:rPr lang="en-US" sz="1200" dirty="0">
                <a:solidFill>
                  <a:srgbClr val="000000"/>
                </a:solidFill>
                <a:latin typeface="Times New Roman" panose="02020603050405020304" pitchFamily="18" charset="0"/>
                <a:cs typeface="Times New Roman" panose="02020603050405020304" pitchFamily="18" charset="0"/>
              </a:rPr>
              <a:t>Mr. Ganesh V,</a:t>
            </a:r>
          </a:p>
          <a:p>
            <a:r>
              <a:rPr lang="en-US" sz="1200" dirty="0">
                <a:solidFill>
                  <a:srgbClr val="000000"/>
                </a:solidFill>
                <a:latin typeface="Times New Roman" panose="02020603050405020304" pitchFamily="18" charset="0"/>
                <a:cs typeface="Times New Roman" panose="02020603050405020304" pitchFamily="18" charset="0"/>
              </a:rPr>
              <a:t>Mr. </a:t>
            </a:r>
            <a:r>
              <a:rPr lang="en-US" sz="1200" dirty="0" err="1">
                <a:solidFill>
                  <a:srgbClr val="000000"/>
                </a:solidFill>
                <a:latin typeface="Times New Roman" panose="02020603050405020304" pitchFamily="18" charset="0"/>
                <a:cs typeface="Times New Roman" panose="02020603050405020304" pitchFamily="18" charset="0"/>
              </a:rPr>
              <a:t>Sriguru</a:t>
            </a:r>
            <a:r>
              <a:rPr lang="en-US" sz="1200" dirty="0">
                <a:solidFill>
                  <a:srgbClr val="000000"/>
                </a:solidFill>
                <a:latin typeface="Times New Roman" panose="02020603050405020304" pitchFamily="18" charset="0"/>
                <a:cs typeface="Times New Roman" panose="02020603050405020304" pitchFamily="18" charset="0"/>
              </a:rPr>
              <a:t> S</a:t>
            </a:r>
          </a:p>
          <a:p>
            <a:r>
              <a:rPr lang="en-US" sz="1200" dirty="0">
                <a:solidFill>
                  <a:srgbClr val="000000"/>
                </a:solidFill>
                <a:latin typeface="Times New Roman" panose="02020603050405020304" pitchFamily="18" charset="0"/>
                <a:cs typeface="Times New Roman" panose="02020603050405020304" pitchFamily="18" charset="0"/>
              </a:rPr>
              <a:t>Student - UG</a:t>
            </a:r>
          </a:p>
          <a:p>
            <a:r>
              <a:rPr lang="en-US" sz="1200" dirty="0">
                <a:solidFill>
                  <a:srgbClr val="000000"/>
                </a:solidFill>
                <a:latin typeface="Times New Roman" panose="02020603050405020304" pitchFamily="18" charset="0"/>
                <a:cs typeface="Times New Roman" panose="02020603050405020304" pitchFamily="18" charset="0"/>
              </a:rPr>
              <a:t>Rajiv Gandhi College of Engineering and Technology,</a:t>
            </a:r>
          </a:p>
          <a:p>
            <a:r>
              <a:rPr lang="en-US" sz="1200" dirty="0">
                <a:solidFill>
                  <a:srgbClr val="000000"/>
                </a:solidFill>
                <a:latin typeface="Times New Roman" panose="02020603050405020304" pitchFamily="18" charset="0"/>
                <a:cs typeface="Times New Roman" panose="02020603050405020304" pitchFamily="18" charset="0"/>
              </a:rPr>
              <a:t>Puducherry</a:t>
            </a:r>
          </a:p>
        </p:txBody>
      </p:sp>
      <p:sp>
        <p:nvSpPr>
          <p:cNvPr id="5" name="TextBox 12">
            <a:extLst>
              <a:ext uri="{FF2B5EF4-FFF2-40B4-BE49-F238E27FC236}">
                <a16:creationId xmlns:a16="http://schemas.microsoft.com/office/drawing/2014/main" id="{954E01FF-D846-4D6E-8224-E40DAFD3EB29}"/>
              </a:ext>
            </a:extLst>
          </p:cNvPr>
          <p:cNvSpPr txBox="1"/>
          <p:nvPr/>
        </p:nvSpPr>
        <p:spPr>
          <a:xfrm>
            <a:off x="3564385" y="4579072"/>
            <a:ext cx="5063230" cy="492443"/>
          </a:xfrm>
          <a:prstGeom prst="rect">
            <a:avLst/>
          </a:prstGeom>
        </p:spPr>
        <p:txBody>
          <a:bodyPr wrap="square" lIns="0" tIns="0" rIns="0" bIns="0" rtlCol="0" anchor="t">
            <a:spAutoFit/>
          </a:bodyPr>
          <a:lstStyle/>
          <a:p>
            <a:r>
              <a:rPr lang="en-US" sz="1600" b="1" i="1" dirty="0">
                <a:solidFill>
                  <a:srgbClr val="000000"/>
                </a:solidFill>
                <a:latin typeface="Times New Roman" panose="02020603050405020304" pitchFamily="18" charset="0"/>
                <a:cs typeface="Times New Roman" panose="02020603050405020304" pitchFamily="18" charset="0"/>
              </a:rPr>
              <a:t>Paper Id </a:t>
            </a:r>
            <a:r>
              <a:rPr lang="en-US" sz="1600" i="1" dirty="0">
                <a:solidFill>
                  <a:srgbClr val="000000"/>
                </a:solidFill>
                <a:latin typeface="Times New Roman" panose="02020603050405020304" pitchFamily="18" charset="0"/>
                <a:cs typeface="Times New Roman" panose="02020603050405020304" pitchFamily="18" charset="0"/>
              </a:rPr>
              <a:t>: 2602167</a:t>
            </a:r>
          </a:p>
          <a:p>
            <a:r>
              <a:rPr lang="en-US" sz="1600" b="1" i="1" dirty="0">
                <a:solidFill>
                  <a:srgbClr val="000000"/>
                </a:solidFill>
                <a:latin typeface="Times New Roman" panose="02020603050405020304" pitchFamily="18" charset="0"/>
                <a:cs typeface="Times New Roman" panose="02020603050405020304" pitchFamily="18" charset="0"/>
              </a:rPr>
              <a:t>Presenter Category : </a:t>
            </a:r>
            <a:r>
              <a:rPr lang="en-US" sz="1600" i="1" dirty="0">
                <a:solidFill>
                  <a:srgbClr val="000000"/>
                </a:solidFill>
                <a:latin typeface="Times New Roman" panose="02020603050405020304" pitchFamily="18" charset="0"/>
                <a:cs typeface="Times New Roman" panose="02020603050405020304" pitchFamily="18" charset="0"/>
              </a:rPr>
              <a:t>UG </a:t>
            </a:r>
          </a:p>
        </p:txBody>
      </p:sp>
    </p:spTree>
    <p:extLst>
      <p:ext uri="{BB962C8B-B14F-4D97-AF65-F5344CB8AC3E}">
        <p14:creationId xmlns:p14="http://schemas.microsoft.com/office/powerpoint/2010/main" val="4037775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4F41-0F26-47D5-87BD-7089045E77E3}"/>
              </a:ext>
            </a:extLst>
          </p:cNvPr>
          <p:cNvSpPr>
            <a:spLocks noGrp="1"/>
          </p:cNvSpPr>
          <p:nvPr>
            <p:ph type="title"/>
          </p:nvPr>
        </p:nvSpPr>
        <p:spPr>
          <a:xfrm>
            <a:off x="4303586" y="232468"/>
            <a:ext cx="2715276" cy="867448"/>
          </a:xfrm>
        </p:spPr>
        <p:txBody>
          <a:bodyPr>
            <a:normAutofit/>
          </a:bodyPr>
          <a:lstStyle/>
          <a:p>
            <a:r>
              <a:rPr lang="en-US" b="1" dirty="0">
                <a:solidFill>
                  <a:schemeClr val="tx2"/>
                </a:solidFill>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0FA42E2F-A66E-40B9-BEC2-72EF0BCAD9A2}"/>
              </a:ext>
            </a:extLst>
          </p:cNvPr>
          <p:cNvSpPr>
            <a:spLocks noGrp="1"/>
          </p:cNvSpPr>
          <p:nvPr>
            <p:ph idx="1"/>
          </p:nvPr>
        </p:nvSpPr>
        <p:spPr>
          <a:xfrm>
            <a:off x="6242061" y="1219200"/>
            <a:ext cx="4935171" cy="5171767"/>
          </a:xfrm>
        </p:spPr>
        <p:txBody>
          <a:bodyPr>
            <a:normAutofit/>
          </a:bodyPr>
          <a:lstStyle/>
          <a:p>
            <a:pPr marL="0" indent="0" defTabSz="640080">
              <a:lnSpc>
                <a:spcPct val="110000"/>
              </a:lnSpc>
              <a:spcBef>
                <a:spcPts val="700"/>
              </a:spcBef>
              <a:buNone/>
            </a:pPr>
            <a:r>
              <a:rPr lang="en-US" sz="3200" b="1" kern="1200" spc="22" dirty="0">
                <a:solidFill>
                  <a:schemeClr val="tx1"/>
                </a:solidFill>
                <a:latin typeface="Times New Roman" panose="02020603050405020304" pitchFamily="18" charset="0"/>
                <a:ea typeface="+mn-ea"/>
                <a:cs typeface="Times New Roman" panose="02020603050405020304" pitchFamily="18" charset="0"/>
              </a:rPr>
              <a:t>Abstract</a:t>
            </a:r>
          </a:p>
          <a:p>
            <a:pPr marL="0" indent="0" defTabSz="640080">
              <a:lnSpc>
                <a:spcPct val="110000"/>
              </a:lnSpc>
              <a:spcBef>
                <a:spcPts val="700"/>
              </a:spcBef>
              <a:buNone/>
            </a:pPr>
            <a:r>
              <a:rPr lang="en-US" sz="3200" b="1" kern="1200" dirty="0">
                <a:solidFill>
                  <a:schemeClr val="tx1"/>
                </a:solidFill>
                <a:latin typeface="Times New Roman" panose="02020603050405020304" pitchFamily="18" charset="0"/>
                <a:ea typeface="+mn-ea"/>
                <a:cs typeface="Times New Roman" panose="02020603050405020304" pitchFamily="18" charset="0"/>
              </a:rPr>
              <a:t>I</a:t>
            </a:r>
            <a:r>
              <a:rPr lang="en-US" sz="3200" b="1" kern="1200" spc="22" dirty="0">
                <a:solidFill>
                  <a:schemeClr val="tx1"/>
                </a:solidFill>
                <a:latin typeface="Times New Roman" panose="02020603050405020304" pitchFamily="18" charset="0"/>
                <a:ea typeface="+mn-ea"/>
                <a:cs typeface="Times New Roman" panose="02020603050405020304" pitchFamily="18" charset="0"/>
              </a:rPr>
              <a:t>ntroduction</a:t>
            </a:r>
          </a:p>
          <a:p>
            <a:pPr marL="0" indent="0" defTabSz="640080">
              <a:lnSpc>
                <a:spcPct val="110000"/>
              </a:lnSpc>
              <a:spcBef>
                <a:spcPts val="700"/>
              </a:spcBef>
              <a:buNone/>
            </a:pPr>
            <a:r>
              <a:rPr lang="en-US" sz="3200" b="1" kern="1200" spc="22" dirty="0">
                <a:solidFill>
                  <a:schemeClr val="tx1"/>
                </a:solidFill>
                <a:latin typeface="Times New Roman" panose="02020603050405020304" pitchFamily="18" charset="0"/>
                <a:ea typeface="+mn-ea"/>
                <a:cs typeface="Times New Roman" panose="02020603050405020304" pitchFamily="18" charset="0"/>
              </a:rPr>
              <a:t>Literature Review</a:t>
            </a:r>
          </a:p>
          <a:p>
            <a:pPr marL="0" indent="0" defTabSz="640080">
              <a:lnSpc>
                <a:spcPct val="110000"/>
              </a:lnSpc>
              <a:spcBef>
                <a:spcPts val="700"/>
              </a:spcBef>
              <a:buNone/>
            </a:pPr>
            <a:r>
              <a:rPr lang="en-US" sz="3200" b="1" kern="1200" spc="22" dirty="0">
                <a:solidFill>
                  <a:schemeClr val="tx1"/>
                </a:solidFill>
                <a:latin typeface="Times New Roman" panose="02020603050405020304" pitchFamily="18" charset="0"/>
                <a:ea typeface="+mn-ea"/>
                <a:cs typeface="Times New Roman" panose="02020603050405020304" pitchFamily="18" charset="0"/>
              </a:rPr>
              <a:t>Methodology</a:t>
            </a:r>
          </a:p>
          <a:p>
            <a:pPr marL="0" indent="0" defTabSz="640080">
              <a:lnSpc>
                <a:spcPct val="110000"/>
              </a:lnSpc>
              <a:spcBef>
                <a:spcPts val="700"/>
              </a:spcBef>
              <a:buNone/>
            </a:pPr>
            <a:r>
              <a:rPr lang="en-US" sz="3200" b="1" kern="1200" spc="22" dirty="0">
                <a:solidFill>
                  <a:schemeClr val="tx1"/>
                </a:solidFill>
                <a:latin typeface="Times New Roman" panose="02020603050405020304" pitchFamily="18" charset="0"/>
                <a:ea typeface="+mn-ea"/>
                <a:cs typeface="Times New Roman" panose="02020603050405020304" pitchFamily="18" charset="0"/>
              </a:rPr>
              <a:t>Key Findings</a:t>
            </a:r>
          </a:p>
          <a:p>
            <a:pPr marL="0" indent="0" defTabSz="640080">
              <a:lnSpc>
                <a:spcPct val="110000"/>
              </a:lnSpc>
              <a:spcBef>
                <a:spcPts val="700"/>
              </a:spcBef>
              <a:buNone/>
            </a:pPr>
            <a:r>
              <a:rPr lang="en-US" sz="3200" b="1" kern="1200" spc="22" dirty="0">
                <a:solidFill>
                  <a:schemeClr val="tx1"/>
                </a:solidFill>
                <a:latin typeface="Times New Roman" panose="02020603050405020304" pitchFamily="18" charset="0"/>
                <a:ea typeface="+mn-ea"/>
                <a:cs typeface="Times New Roman" panose="02020603050405020304" pitchFamily="18" charset="0"/>
              </a:rPr>
              <a:t>Results &amp; Discussion</a:t>
            </a:r>
          </a:p>
          <a:p>
            <a:pPr marL="0" indent="0" defTabSz="640080">
              <a:lnSpc>
                <a:spcPct val="110000"/>
              </a:lnSpc>
              <a:spcBef>
                <a:spcPts val="700"/>
              </a:spcBef>
              <a:buNone/>
            </a:pPr>
            <a:r>
              <a:rPr lang="en-US" sz="3200" b="1" spc="22" dirty="0">
                <a:latin typeface="Times New Roman" panose="02020603050405020304" pitchFamily="18" charset="0"/>
                <a:cs typeface="Times New Roman" panose="02020603050405020304" pitchFamily="18" charset="0"/>
              </a:rPr>
              <a:t>References</a:t>
            </a:r>
            <a:endParaRPr lang="en-US" sz="3200" b="1" kern="1200" spc="22" dirty="0">
              <a:solidFill>
                <a:schemeClr val="tx1"/>
              </a:solidFill>
              <a:latin typeface="Times New Roman" panose="02020603050405020304" pitchFamily="18" charset="0"/>
              <a:ea typeface="+mn-ea"/>
              <a:cs typeface="Times New Roman" panose="02020603050405020304" pitchFamily="18" charset="0"/>
            </a:endParaRPr>
          </a:p>
          <a:p>
            <a:pPr marL="0" indent="0" defTabSz="640080">
              <a:lnSpc>
                <a:spcPct val="110000"/>
              </a:lnSpc>
              <a:spcBef>
                <a:spcPts val="700"/>
              </a:spcBef>
              <a:buNone/>
            </a:pPr>
            <a:r>
              <a:rPr lang="en-US" sz="3200" b="1" kern="1200" spc="22" dirty="0">
                <a:solidFill>
                  <a:schemeClr val="tx1"/>
                </a:solidFill>
                <a:latin typeface="Times New Roman" panose="02020603050405020304" pitchFamily="18" charset="0"/>
                <a:ea typeface="+mn-ea"/>
                <a:cs typeface="Times New Roman" panose="02020603050405020304" pitchFamily="18" charset="0"/>
              </a:rPr>
              <a:t>Conclusion</a:t>
            </a:r>
          </a:p>
          <a:p>
            <a:pPr>
              <a:lnSpc>
                <a:spcPct val="110000"/>
              </a:lnSpc>
            </a:pPr>
            <a:endParaRPr lang="en-US" sz="3200" dirty="0"/>
          </a:p>
        </p:txBody>
      </p:sp>
      <p:sp>
        <p:nvSpPr>
          <p:cNvPr id="4" name="Footer Placeholder 3">
            <a:extLst>
              <a:ext uri="{FF2B5EF4-FFF2-40B4-BE49-F238E27FC236}">
                <a16:creationId xmlns:a16="http://schemas.microsoft.com/office/drawing/2014/main" id="{25EF9455-A8B4-C4A0-4D7C-91BF6E8C9EB8}"/>
              </a:ext>
            </a:extLst>
          </p:cNvPr>
          <p:cNvSpPr>
            <a:spLocks noGrp="1"/>
          </p:cNvSpPr>
          <p:nvPr>
            <p:ph type="ftr" sz="quarter" idx="11"/>
          </p:nvPr>
        </p:nvSpPr>
        <p:spPr>
          <a:xfrm>
            <a:off x="4419388" y="6349482"/>
            <a:ext cx="2483671" cy="307212"/>
          </a:xfrm>
        </p:spPr>
        <p:txBody>
          <a:bodyPr/>
          <a:lstStyle/>
          <a:p>
            <a:pPr defTabSz="640080">
              <a:spcAft>
                <a:spcPts val="600"/>
              </a:spcAft>
            </a:pPr>
            <a:r>
              <a:rPr lang="en-US" kern="1200" dirty="0">
                <a:solidFill>
                  <a:schemeClr val="tx1">
                    <a:tint val="75000"/>
                  </a:schemeClr>
                </a:solidFill>
              </a:rPr>
              <a:t>Paper ID : 2602167    Category : UG </a:t>
            </a:r>
            <a:endParaRPr lang="en-US" dirty="0"/>
          </a:p>
        </p:txBody>
      </p:sp>
      <p:pic>
        <p:nvPicPr>
          <p:cNvPr id="8" name="Graphic 7" descr="Chevron arrows with solid fill">
            <a:extLst>
              <a:ext uri="{FF2B5EF4-FFF2-40B4-BE49-F238E27FC236}">
                <a16:creationId xmlns:a16="http://schemas.microsoft.com/office/drawing/2014/main" id="{B05F2511-C736-7BED-F1E8-2E5EF8935C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4625" y="1418889"/>
            <a:ext cx="301375" cy="300942"/>
          </a:xfrm>
          <a:prstGeom prst="rect">
            <a:avLst/>
          </a:prstGeom>
          <a:effectLst>
            <a:glow rad="63500">
              <a:schemeClr val="accent6">
                <a:satMod val="175000"/>
                <a:alpha val="40000"/>
              </a:schemeClr>
            </a:glow>
          </a:effectLst>
        </p:spPr>
      </p:pic>
      <p:pic>
        <p:nvPicPr>
          <p:cNvPr id="9" name="Graphic 8" descr="Chevron arrows with solid fill">
            <a:extLst>
              <a:ext uri="{FF2B5EF4-FFF2-40B4-BE49-F238E27FC236}">
                <a16:creationId xmlns:a16="http://schemas.microsoft.com/office/drawing/2014/main" id="{013D5B27-05C5-AE30-E325-416FADB94E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9252" y="5142961"/>
            <a:ext cx="301375" cy="300942"/>
          </a:xfrm>
          <a:prstGeom prst="rect">
            <a:avLst/>
          </a:prstGeom>
          <a:effectLst>
            <a:glow rad="63500">
              <a:schemeClr val="accent6">
                <a:satMod val="175000"/>
                <a:alpha val="40000"/>
              </a:schemeClr>
            </a:glow>
          </a:effectLst>
        </p:spPr>
      </p:pic>
      <p:pic>
        <p:nvPicPr>
          <p:cNvPr id="10" name="Graphic 9" descr="Chevron arrows with solid fill">
            <a:extLst>
              <a:ext uri="{FF2B5EF4-FFF2-40B4-BE49-F238E27FC236}">
                <a16:creationId xmlns:a16="http://schemas.microsoft.com/office/drawing/2014/main" id="{63B76A74-12D5-3CCF-B089-1980438DFE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9252" y="4518464"/>
            <a:ext cx="301375" cy="300942"/>
          </a:xfrm>
          <a:prstGeom prst="rect">
            <a:avLst/>
          </a:prstGeom>
          <a:effectLst>
            <a:glow rad="63500">
              <a:schemeClr val="accent6">
                <a:satMod val="175000"/>
                <a:alpha val="40000"/>
              </a:schemeClr>
            </a:glow>
          </a:effectLst>
        </p:spPr>
      </p:pic>
      <p:pic>
        <p:nvPicPr>
          <p:cNvPr id="11" name="Graphic 10" descr="Chevron arrows with solid fill">
            <a:extLst>
              <a:ext uri="{FF2B5EF4-FFF2-40B4-BE49-F238E27FC236}">
                <a16:creationId xmlns:a16="http://schemas.microsoft.com/office/drawing/2014/main" id="{9465ACCB-F842-54EA-B7B2-F57DB884FF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88285" y="3903131"/>
            <a:ext cx="301375" cy="300942"/>
          </a:xfrm>
          <a:prstGeom prst="rect">
            <a:avLst/>
          </a:prstGeom>
          <a:effectLst>
            <a:glow rad="63500">
              <a:schemeClr val="accent6">
                <a:satMod val="175000"/>
                <a:alpha val="40000"/>
              </a:schemeClr>
            </a:glow>
          </a:effectLst>
        </p:spPr>
      </p:pic>
      <p:pic>
        <p:nvPicPr>
          <p:cNvPr id="12" name="Graphic 11" descr="Chevron arrows with solid fill">
            <a:extLst>
              <a:ext uri="{FF2B5EF4-FFF2-40B4-BE49-F238E27FC236}">
                <a16:creationId xmlns:a16="http://schemas.microsoft.com/office/drawing/2014/main" id="{9714086A-3C9D-D2BD-64BF-281608079D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9252" y="3245325"/>
            <a:ext cx="301375" cy="300942"/>
          </a:xfrm>
          <a:prstGeom prst="rect">
            <a:avLst/>
          </a:prstGeom>
          <a:effectLst>
            <a:glow rad="63500">
              <a:schemeClr val="accent6">
                <a:satMod val="175000"/>
                <a:alpha val="40000"/>
              </a:schemeClr>
            </a:glow>
          </a:effectLst>
        </p:spPr>
      </p:pic>
      <p:pic>
        <p:nvPicPr>
          <p:cNvPr id="13" name="Graphic 12" descr="Chevron arrows with solid fill">
            <a:extLst>
              <a:ext uri="{FF2B5EF4-FFF2-40B4-BE49-F238E27FC236}">
                <a16:creationId xmlns:a16="http://schemas.microsoft.com/office/drawing/2014/main" id="{43D3BD75-088C-73B2-1CBB-95D932A415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9252" y="2658719"/>
            <a:ext cx="301375" cy="300942"/>
          </a:xfrm>
          <a:prstGeom prst="rect">
            <a:avLst/>
          </a:prstGeom>
          <a:effectLst>
            <a:glow rad="63500">
              <a:schemeClr val="accent6">
                <a:satMod val="175000"/>
                <a:alpha val="40000"/>
              </a:schemeClr>
            </a:glow>
          </a:effectLst>
        </p:spPr>
      </p:pic>
      <p:pic>
        <p:nvPicPr>
          <p:cNvPr id="14" name="Graphic 13" descr="Chevron arrows with solid fill">
            <a:extLst>
              <a:ext uri="{FF2B5EF4-FFF2-40B4-BE49-F238E27FC236}">
                <a16:creationId xmlns:a16="http://schemas.microsoft.com/office/drawing/2014/main" id="{D0C825C4-D426-D460-8D79-1CB95834E5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88286" y="2038804"/>
            <a:ext cx="301375" cy="300942"/>
          </a:xfrm>
          <a:prstGeom prst="rect">
            <a:avLst/>
          </a:prstGeom>
          <a:effectLst>
            <a:glow rad="63500">
              <a:schemeClr val="accent6">
                <a:satMod val="175000"/>
                <a:alpha val="40000"/>
              </a:schemeClr>
            </a:glow>
          </a:effectLst>
        </p:spPr>
      </p:pic>
      <p:pic>
        <p:nvPicPr>
          <p:cNvPr id="15" name="Graphic 14" descr="Chevron arrows with solid fill">
            <a:extLst>
              <a:ext uri="{FF2B5EF4-FFF2-40B4-BE49-F238E27FC236}">
                <a16:creationId xmlns:a16="http://schemas.microsoft.com/office/drawing/2014/main" id="{32D51052-59FC-38D8-6E4A-4A0BB43211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99252" y="5767852"/>
            <a:ext cx="301375" cy="300942"/>
          </a:xfrm>
          <a:prstGeom prst="rect">
            <a:avLst/>
          </a:prstGeom>
          <a:effectLst>
            <a:glow rad="63500">
              <a:schemeClr val="accent6">
                <a:satMod val="175000"/>
                <a:alpha val="40000"/>
              </a:schemeClr>
            </a:glow>
          </a:effectLst>
        </p:spPr>
      </p:pic>
      <p:pic>
        <p:nvPicPr>
          <p:cNvPr id="5" name="Picture 4">
            <a:extLst>
              <a:ext uri="{FF2B5EF4-FFF2-40B4-BE49-F238E27FC236}">
                <a16:creationId xmlns:a16="http://schemas.microsoft.com/office/drawing/2014/main" id="{0AA01682-A8DD-1842-B093-4DF3715F41E6}"/>
              </a:ext>
            </a:extLst>
          </p:cNvPr>
          <p:cNvPicPr>
            <a:picLocks noChangeAspect="1"/>
          </p:cNvPicPr>
          <p:nvPr/>
        </p:nvPicPr>
        <p:blipFill>
          <a:blip r:embed="rId4"/>
          <a:stretch>
            <a:fillRect/>
          </a:stretch>
        </p:blipFill>
        <p:spPr>
          <a:xfrm>
            <a:off x="569951" y="1349762"/>
            <a:ext cx="4472259" cy="4472259"/>
          </a:xfrm>
          <a:prstGeom prst="rect">
            <a:avLst/>
          </a:prstGeom>
        </p:spPr>
      </p:pic>
    </p:spTree>
    <p:extLst>
      <p:ext uri="{BB962C8B-B14F-4D97-AF65-F5344CB8AC3E}">
        <p14:creationId xmlns:p14="http://schemas.microsoft.com/office/powerpoint/2010/main" val="213740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4185266" y="319088"/>
            <a:ext cx="3821464" cy="840534"/>
          </a:xfrm>
        </p:spPr>
        <p:txBody>
          <a:bodyPr>
            <a:normAutofit/>
          </a:bodyPr>
          <a:lstStyle/>
          <a:p>
            <a:r>
              <a:rPr lang="en-US" sz="4800" b="1" spc="210" dirty="0">
                <a:latin typeface="Times New Roman" panose="02020603050405020304" pitchFamily="18" charset="0"/>
                <a:cs typeface="Times New Roman" panose="02020603050405020304" pitchFamily="18" charset="0"/>
              </a:rPr>
              <a:t>ABSTRACT</a:t>
            </a:r>
            <a:endParaRPr lang="en-US"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38198" y="1159622"/>
            <a:ext cx="10515600" cy="4866968"/>
          </a:xfrm>
        </p:spPr>
        <p:txBody>
          <a:bodyPr>
            <a:noAutofit/>
          </a:bodyPr>
          <a:lstStyle/>
          <a:p>
            <a:pPr marL="9525" marR="158115" indent="0" algn="just">
              <a:lnSpc>
                <a:spcPct val="149000"/>
              </a:lnSpc>
              <a:spcBef>
                <a:spcPts val="0"/>
              </a:spcBef>
              <a:spcAft>
                <a:spcPts val="445"/>
              </a:spcAft>
              <a:buNone/>
            </a:pPr>
            <a:r>
              <a:rPr lang="en-US" sz="1400" dirty="0">
                <a:solidFill>
                  <a:srgbClr val="000000"/>
                </a:solidFill>
                <a:effectLst/>
                <a:latin typeface="Times New Roman" panose="02020603050405020304" pitchFamily="18" charset="0"/>
                <a:ea typeface="Times New Roman" panose="02020603050405020304" pitchFamily="18" charset="0"/>
              </a:rPr>
              <a:t> Artificial Intelligence (AI), Machine Learning (ML), and Deep Learning (DL) are widely used in healthcare for analyzing molecular and clinical data to support decision-making. AI builds intelligent systems, ML enables data-driven learning, and DL, especially Graph Attention Networks (GAT) and Deep Neural Networks (DNN), extract complex features for accurate drug–drug interaction (DDI) prediction[3][8]. </a:t>
            </a:r>
          </a:p>
          <a:p>
            <a:pPr marL="9525" marR="158115" indent="0" algn="just">
              <a:lnSpc>
                <a:spcPct val="149000"/>
              </a:lnSpc>
              <a:spcBef>
                <a:spcPts val="0"/>
              </a:spcBef>
              <a:spcAft>
                <a:spcPts val="445"/>
              </a:spcAft>
              <a:buNone/>
            </a:pPr>
            <a:r>
              <a:rPr lang="en-US" sz="1400" dirty="0">
                <a:solidFill>
                  <a:srgbClr val="000000"/>
                </a:solidFill>
                <a:effectLst/>
                <a:latin typeface="Times New Roman" panose="02020603050405020304" pitchFamily="18" charset="0"/>
                <a:ea typeface="Times New Roman" panose="02020603050405020304" pitchFamily="18" charset="0"/>
              </a:rPr>
              <a:t> In existing systems to predict DDI, the models using Deep Neural Networks (DNN), Random Forest, and </a:t>
            </a:r>
            <a:r>
              <a:rPr lang="en-US" sz="1400" dirty="0" err="1">
                <a:solidFill>
                  <a:srgbClr val="000000"/>
                </a:solidFill>
                <a:effectLst/>
                <a:latin typeface="Times New Roman" panose="02020603050405020304" pitchFamily="18" charset="0"/>
                <a:ea typeface="Times New Roman" panose="02020603050405020304" pitchFamily="18" charset="0"/>
              </a:rPr>
              <a:t>XGBoost</a:t>
            </a:r>
            <a:r>
              <a:rPr lang="en-US" sz="1400" dirty="0">
                <a:solidFill>
                  <a:srgbClr val="000000"/>
                </a:solidFill>
                <a:effectLst/>
                <a:latin typeface="Times New Roman" panose="02020603050405020304" pitchFamily="18" charset="0"/>
                <a:ea typeface="Times New Roman" panose="02020603050405020304" pitchFamily="18" charset="0"/>
              </a:rPr>
              <a:t> with </a:t>
            </a:r>
            <a:r>
              <a:rPr lang="en-US" sz="1400" dirty="0" err="1">
                <a:solidFill>
                  <a:srgbClr val="000000"/>
                </a:solidFill>
                <a:effectLst/>
                <a:latin typeface="Times New Roman" panose="02020603050405020304" pitchFamily="18" charset="0"/>
                <a:ea typeface="Times New Roman" panose="02020603050405020304" pitchFamily="18" charset="0"/>
              </a:rPr>
              <a:t>DrugBank’s</a:t>
            </a:r>
            <a:r>
              <a:rPr lang="en-US" sz="1400" dirty="0">
                <a:solidFill>
                  <a:srgbClr val="000000"/>
                </a:solidFill>
                <a:effectLst/>
                <a:latin typeface="Times New Roman" panose="02020603050405020304" pitchFamily="18" charset="0"/>
                <a:ea typeface="Times New Roman" panose="02020603050405020304" pitchFamily="18" charset="0"/>
              </a:rPr>
              <a:t> structural similarity profiles are applied. They use the Synthetic Minority Over-sampling Technique to handle class imbalance in clinical datasets[6]. These approaches aim to improve the prediction of rare but critical adverse drug interactions and have demonstrated accuracy around 93.80%[3]. </a:t>
            </a:r>
          </a:p>
          <a:p>
            <a:pPr marL="9525" marR="158115" indent="0" algn="just">
              <a:lnSpc>
                <a:spcPct val="149000"/>
              </a:lnSpc>
              <a:spcBef>
                <a:spcPts val="0"/>
              </a:spcBef>
              <a:spcAft>
                <a:spcPts val="445"/>
              </a:spcAft>
              <a:buNone/>
            </a:pPr>
            <a:r>
              <a:rPr lang="en-US" sz="1400" dirty="0">
                <a:solidFill>
                  <a:srgbClr val="000000"/>
                </a:solidFill>
                <a:effectLst/>
                <a:latin typeface="Times New Roman" panose="02020603050405020304" pitchFamily="18" charset="0"/>
                <a:ea typeface="Times New Roman" panose="02020603050405020304" pitchFamily="18" charset="0"/>
              </a:rPr>
              <a:t> Even though current models provide useful insights, they have limitations in fully capturing complex drug interactions and real-world usage[2][4]. They struggle with handling imbalanced data and do not fully use Graph Neural Networks (GNN) to model multi-drug networks.    We propose a hybrid model, CLINENSEMBLE, combining Graph Attention Networks (GAT), Deep Neural Networks (DNN), and </a:t>
            </a:r>
            <a:r>
              <a:rPr lang="en-US" sz="1400" dirty="0" err="1">
                <a:solidFill>
                  <a:srgbClr val="000000"/>
                </a:solidFill>
                <a:effectLst/>
                <a:latin typeface="Times New Roman" panose="02020603050405020304" pitchFamily="18" charset="0"/>
                <a:ea typeface="Times New Roman" panose="02020603050405020304" pitchFamily="18" charset="0"/>
              </a:rPr>
              <a:t>CatBoost.Using</a:t>
            </a:r>
            <a:r>
              <a:rPr lang="en-US" sz="1400" dirty="0">
                <a:solidFill>
                  <a:srgbClr val="000000"/>
                </a:solidFill>
                <a:effectLst/>
                <a:latin typeface="Times New Roman" panose="02020603050405020304" pitchFamily="18" charset="0"/>
                <a:ea typeface="Times New Roman" panose="02020603050405020304" pitchFamily="18" charset="0"/>
              </a:rPr>
              <a:t> chemical structure data and graph features along with clinical information, it improves rare event detection by over 5% and overall accuracy. This helps doctors and researchers better assess drug interaction risks and improve patient safety. </a:t>
            </a:r>
          </a:p>
          <a:p>
            <a:pPr marL="3175" marR="0" indent="0" algn="l">
              <a:lnSpc>
                <a:spcPct val="107000"/>
              </a:lnSpc>
              <a:spcBef>
                <a:spcPts val="0"/>
              </a:spcBef>
              <a:spcAft>
                <a:spcPts val="1020"/>
              </a:spcAft>
              <a:buNone/>
            </a:pPr>
            <a:endParaRPr lang="en-US" sz="1400" dirty="0">
              <a:solidFill>
                <a:srgbClr val="000000"/>
              </a:solidFill>
              <a:effectLst/>
              <a:latin typeface="Times New Roman" panose="02020603050405020304" pitchFamily="18" charset="0"/>
              <a:ea typeface="Times New Roman" panose="02020603050405020304" pitchFamily="18" charset="0"/>
            </a:endParaRPr>
          </a:p>
          <a:p>
            <a:pPr marL="0" marR="53340" indent="0" algn="l">
              <a:lnSpc>
                <a:spcPct val="155000"/>
              </a:lnSpc>
              <a:spcBef>
                <a:spcPts val="0"/>
              </a:spcBef>
              <a:spcAft>
                <a:spcPts val="285"/>
              </a:spcAft>
              <a:buNone/>
            </a:pPr>
            <a:r>
              <a:rPr lang="en-US" sz="1400" dirty="0">
                <a:solidFill>
                  <a:srgbClr val="000000"/>
                </a:solidFill>
                <a:effectLst/>
                <a:latin typeface="Times New Roman" panose="02020603050405020304" pitchFamily="18" charset="0"/>
                <a:ea typeface="Times New Roman" panose="02020603050405020304" pitchFamily="18" charset="0"/>
              </a:rPr>
              <a:t> Keywords: Drug–Drug Interaction (DDI) Prediction, Graph Neural Networks (GNN), Graph Attention  Networks (GAT), Deep Neural Networks (DNN), Polypharmacy, Ensemble Learning, Healthcare  Artificial Intelligence</a:t>
            </a:r>
            <a:r>
              <a:rPr lang="en-US" sz="1400" b="1" dirty="0">
                <a:solidFill>
                  <a:srgbClr val="000000"/>
                </a:solidFill>
                <a:effectLst/>
                <a:latin typeface="Times New Roman" panose="02020603050405020304" pitchFamily="18" charset="0"/>
                <a:ea typeface="Times New Roman" panose="02020603050405020304" pitchFamily="18" charset="0"/>
              </a:rPr>
              <a:t>.</a:t>
            </a:r>
            <a:r>
              <a:rPr lang="en-US" sz="1400" dirty="0">
                <a:solidFill>
                  <a:srgbClr val="000000"/>
                </a:solidFill>
                <a:effectLst/>
                <a:latin typeface="Times New Roman" panose="02020603050405020304" pitchFamily="18" charset="0"/>
                <a:ea typeface="Times New Roman" panose="02020603050405020304" pitchFamily="18" charset="0"/>
              </a:rPr>
              <a:t> </a:t>
            </a:r>
          </a:p>
        </p:txBody>
      </p:sp>
      <p:sp>
        <p:nvSpPr>
          <p:cNvPr id="4" name="Footer Placeholder 3">
            <a:extLst>
              <a:ext uri="{FF2B5EF4-FFF2-40B4-BE49-F238E27FC236}">
                <a16:creationId xmlns:a16="http://schemas.microsoft.com/office/drawing/2014/main" id="{7DA5901D-B47A-085E-5CF7-DAAAB3621235}"/>
              </a:ext>
            </a:extLst>
          </p:cNvPr>
          <p:cNvSpPr>
            <a:spLocks noGrp="1"/>
          </p:cNvSpPr>
          <p:nvPr>
            <p:ph type="ftr" sz="quarter" idx="11"/>
          </p:nvPr>
        </p:nvSpPr>
        <p:spPr>
          <a:xfrm>
            <a:off x="4688756" y="6356349"/>
            <a:ext cx="2814484" cy="365125"/>
          </a:xfrm>
        </p:spPr>
        <p:txBody>
          <a:bodyPr>
            <a:normAutofit/>
          </a:bodyPr>
          <a:lstStyle/>
          <a:p>
            <a:pPr>
              <a:spcAft>
                <a:spcPts val="600"/>
              </a:spcAft>
            </a:pPr>
            <a:r>
              <a:rPr lang="en-US" dirty="0"/>
              <a:t>Paper ID : 2602167             Category : UG </a:t>
            </a:r>
          </a:p>
        </p:txBody>
      </p:sp>
    </p:spTree>
    <p:extLst>
      <p:ext uri="{BB962C8B-B14F-4D97-AF65-F5344CB8AC3E}">
        <p14:creationId xmlns:p14="http://schemas.microsoft.com/office/powerpoint/2010/main" val="1397258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3372955" y="273408"/>
            <a:ext cx="5446089" cy="807371"/>
          </a:xfrm>
        </p:spPr>
        <p:txBody>
          <a:bodyPr>
            <a:noAutofit/>
          </a:bodyPr>
          <a:lstStyle/>
          <a:p>
            <a:r>
              <a:rPr lang="en-US" sz="4800" b="1" spc="210" dirty="0">
                <a:latin typeface="Times New Roman" panose="02020603050405020304" pitchFamily="18" charset="0"/>
                <a:cs typeface="Times New Roman" panose="02020603050405020304" pitchFamily="18" charset="0"/>
              </a:rPr>
              <a:t>INTRODUCTION</a:t>
            </a:r>
            <a:endParaRPr lang="en-US"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87416" y="1293599"/>
            <a:ext cx="10188678" cy="4849931"/>
          </a:xfrm>
        </p:spPr>
        <p:txBody>
          <a:bodyPr anchor="ctr">
            <a:noAutofit/>
          </a:bodyPr>
          <a:lstStyle/>
          <a:p>
            <a:pPr>
              <a:buFont typeface="+mj-lt"/>
              <a:buAutoNum type="arabicPeriod"/>
            </a:pPr>
            <a:r>
              <a:rPr lang="en-US" sz="2300" dirty="0">
                <a:latin typeface="Times New Roman" panose="02020603050405020304" pitchFamily="18" charset="0"/>
                <a:cs typeface="Times New Roman" panose="02020603050405020304" pitchFamily="18" charset="0"/>
              </a:rPr>
              <a:t>Drug–drug interaction (DDI) prediction is essential due to increasing polypharmacy, as undetected interactions can cause adverse drug reactions and serious clinical complications.</a:t>
            </a:r>
          </a:p>
          <a:p>
            <a:pPr>
              <a:buFont typeface="+mj-lt"/>
              <a:buAutoNum type="arabicPeriod"/>
            </a:pPr>
            <a:r>
              <a:rPr lang="en-US" sz="2300" dirty="0">
                <a:latin typeface="Times New Roman" panose="02020603050405020304" pitchFamily="18" charset="0"/>
                <a:cs typeface="Times New Roman" panose="02020603050405020304" pitchFamily="18" charset="0"/>
              </a:rPr>
              <a:t>Existing machine learning models such as DNN, Random Forest, and </a:t>
            </a:r>
            <a:r>
              <a:rPr lang="en-US" sz="2300" dirty="0" err="1">
                <a:latin typeface="Times New Roman" panose="02020603050405020304" pitchFamily="18" charset="0"/>
                <a:cs typeface="Times New Roman" panose="02020603050405020304" pitchFamily="18" charset="0"/>
              </a:rPr>
              <a:t>XGBoost</a:t>
            </a:r>
            <a:r>
              <a:rPr lang="en-US" sz="2300" dirty="0">
                <a:latin typeface="Times New Roman" panose="02020603050405020304" pitchFamily="18" charset="0"/>
                <a:cs typeface="Times New Roman" panose="02020603050405020304" pitchFamily="18" charset="0"/>
              </a:rPr>
              <a:t> use </a:t>
            </a:r>
            <a:r>
              <a:rPr lang="en-US" sz="2300" dirty="0" err="1">
                <a:latin typeface="Times New Roman" panose="02020603050405020304" pitchFamily="18" charset="0"/>
                <a:cs typeface="Times New Roman" panose="02020603050405020304" pitchFamily="18" charset="0"/>
              </a:rPr>
              <a:t>DrugBank</a:t>
            </a:r>
            <a:r>
              <a:rPr lang="en-US" sz="2300" dirty="0">
                <a:latin typeface="Times New Roman" panose="02020603050405020304" pitchFamily="18" charset="0"/>
                <a:cs typeface="Times New Roman" panose="02020603050405020304" pitchFamily="18" charset="0"/>
              </a:rPr>
              <a:t> features and SMOTE balancing, achieving around 93–94% accuracy.</a:t>
            </a:r>
          </a:p>
          <a:p>
            <a:pPr>
              <a:buFont typeface="+mj-lt"/>
              <a:buAutoNum type="arabicPeriod"/>
            </a:pPr>
            <a:r>
              <a:rPr lang="en-US" sz="2300" dirty="0">
                <a:latin typeface="Times New Roman" panose="02020603050405020304" pitchFamily="18" charset="0"/>
                <a:cs typeface="Times New Roman" panose="02020603050405020304" pitchFamily="18" charset="0"/>
              </a:rPr>
              <a:t>Traditional approaches treat drug pairs independently and fail to capture complex multi-drug relationships and graph-based interaction patterns.</a:t>
            </a:r>
          </a:p>
          <a:p>
            <a:pPr>
              <a:buFont typeface="+mj-lt"/>
              <a:buAutoNum type="arabicPeriod"/>
            </a:pPr>
            <a:r>
              <a:rPr lang="en-US" sz="2300" dirty="0" err="1">
                <a:latin typeface="Times New Roman" panose="02020603050405020304" pitchFamily="18" charset="0"/>
                <a:cs typeface="Times New Roman" panose="02020603050405020304" pitchFamily="18" charset="0"/>
              </a:rPr>
              <a:t>GraphRxInsight</a:t>
            </a:r>
            <a:r>
              <a:rPr lang="en-US" sz="2300" dirty="0">
                <a:latin typeface="Times New Roman" panose="02020603050405020304" pitchFamily="18" charset="0"/>
                <a:cs typeface="Times New Roman" panose="02020603050405020304" pitchFamily="18" charset="0"/>
              </a:rPr>
              <a:t> uses a hybrid CLINENSEMBLE model combining Graph Attention Networks (GAT), Deep Neural Networks (DNN), and </a:t>
            </a:r>
            <a:r>
              <a:rPr lang="en-US" sz="2300" dirty="0" err="1">
                <a:latin typeface="Times New Roman" panose="02020603050405020304" pitchFamily="18" charset="0"/>
                <a:cs typeface="Times New Roman" panose="02020603050405020304" pitchFamily="18" charset="0"/>
              </a:rPr>
              <a:t>CatBoost</a:t>
            </a:r>
            <a:r>
              <a:rPr lang="en-US" sz="2300" dirty="0">
                <a:latin typeface="Times New Roman" panose="02020603050405020304" pitchFamily="18" charset="0"/>
                <a:cs typeface="Times New Roman" panose="02020603050405020304" pitchFamily="18" charset="0"/>
              </a:rPr>
              <a:t> to integrate chemical, graph, and clinical data.</a:t>
            </a:r>
          </a:p>
          <a:p>
            <a:pPr>
              <a:buFont typeface="+mj-lt"/>
              <a:buAutoNum type="arabicPeriod"/>
            </a:pPr>
            <a:r>
              <a:rPr lang="en-US" sz="2300" dirty="0">
                <a:latin typeface="Times New Roman" panose="02020603050405020304" pitchFamily="18" charset="0"/>
                <a:cs typeface="Times New Roman" panose="02020603050405020304" pitchFamily="18" charset="0"/>
              </a:rPr>
              <a:t>The proposed system achieves up to 98% accuracy, improves rare interaction detection, and provides explainable predictions for safer clinical decision-making.</a:t>
            </a:r>
          </a:p>
        </p:txBody>
      </p:sp>
      <p:sp>
        <p:nvSpPr>
          <p:cNvPr id="4" name="Footer Placeholder 3">
            <a:extLst>
              <a:ext uri="{FF2B5EF4-FFF2-40B4-BE49-F238E27FC236}">
                <a16:creationId xmlns:a16="http://schemas.microsoft.com/office/drawing/2014/main" id="{10D0422C-26EE-590F-A8FC-ACDAD0A57864}"/>
              </a:ext>
            </a:extLst>
          </p:cNvPr>
          <p:cNvSpPr>
            <a:spLocks noGrp="1"/>
          </p:cNvSpPr>
          <p:nvPr>
            <p:ph type="ftr" sz="quarter" idx="11"/>
          </p:nvPr>
        </p:nvSpPr>
        <p:spPr>
          <a:xfrm>
            <a:off x="4698590" y="6356350"/>
            <a:ext cx="2794819" cy="365125"/>
          </a:xfrm>
        </p:spPr>
        <p:txBody>
          <a:bodyPr>
            <a:normAutofit/>
          </a:bodyPr>
          <a:lstStyle/>
          <a:p>
            <a:pPr>
              <a:spcAft>
                <a:spcPts val="600"/>
              </a:spcAft>
            </a:pPr>
            <a:r>
              <a:rPr lang="en-US" dirty="0"/>
              <a:t>Paper ID : 2602167             Category : UG </a:t>
            </a:r>
          </a:p>
        </p:txBody>
      </p:sp>
    </p:spTree>
    <p:extLst>
      <p:ext uri="{BB962C8B-B14F-4D97-AF65-F5344CB8AC3E}">
        <p14:creationId xmlns:p14="http://schemas.microsoft.com/office/powerpoint/2010/main" val="3560748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2341356" y="349958"/>
            <a:ext cx="7509287" cy="653395"/>
          </a:xfrm>
        </p:spPr>
        <p:txBody>
          <a:bodyPr>
            <a:noAutofit/>
          </a:bodyPr>
          <a:lstStyle/>
          <a:p>
            <a:r>
              <a:rPr lang="en-US" sz="4800" b="1" spc="210" dirty="0">
                <a:latin typeface="Times New Roman" panose="02020603050405020304" pitchFamily="18" charset="0"/>
                <a:cs typeface="Times New Roman" panose="02020603050405020304" pitchFamily="18" charset="0"/>
              </a:rPr>
              <a:t>LITERATURE REVIEW</a:t>
            </a:r>
            <a:endParaRPr lang="en-US" sz="4800" b="1"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940A7EF0-2189-521D-88F4-B86F6BBA370F}"/>
              </a:ext>
            </a:extLst>
          </p:cNvPr>
          <p:cNvGraphicFramePr>
            <a:graphicFrameLocks noGrp="1"/>
          </p:cNvGraphicFramePr>
          <p:nvPr>
            <p:ph idx="1"/>
            <p:extLst>
              <p:ext uri="{D42A27DB-BD31-4B8C-83A1-F6EECF244321}">
                <p14:modId xmlns:p14="http://schemas.microsoft.com/office/powerpoint/2010/main" val="25000098"/>
              </p:ext>
            </p:extLst>
          </p:nvPr>
        </p:nvGraphicFramePr>
        <p:xfrm>
          <a:off x="838200" y="1317524"/>
          <a:ext cx="10515600" cy="4847302"/>
        </p:xfrm>
        <a:graphic>
          <a:graphicData uri="http://schemas.openxmlformats.org/drawingml/2006/table">
            <a:tbl>
              <a:tblPr firstRow="1" bandRow="1">
                <a:tableStyleId>{5C22544A-7EE6-4342-B048-85BDC9FD1C3A}</a:tableStyleId>
              </a:tblPr>
              <a:tblGrid>
                <a:gridCol w="813619">
                  <a:extLst>
                    <a:ext uri="{9D8B030D-6E8A-4147-A177-3AD203B41FA5}">
                      <a16:colId xmlns:a16="http://schemas.microsoft.com/office/drawing/2014/main" val="2866303339"/>
                    </a:ext>
                  </a:extLst>
                </a:gridCol>
                <a:gridCol w="2418737">
                  <a:extLst>
                    <a:ext uri="{9D8B030D-6E8A-4147-A177-3AD203B41FA5}">
                      <a16:colId xmlns:a16="http://schemas.microsoft.com/office/drawing/2014/main" val="102384258"/>
                    </a:ext>
                  </a:extLst>
                </a:gridCol>
                <a:gridCol w="2861187">
                  <a:extLst>
                    <a:ext uri="{9D8B030D-6E8A-4147-A177-3AD203B41FA5}">
                      <a16:colId xmlns:a16="http://schemas.microsoft.com/office/drawing/2014/main" val="3144970022"/>
                    </a:ext>
                  </a:extLst>
                </a:gridCol>
                <a:gridCol w="4422057">
                  <a:extLst>
                    <a:ext uri="{9D8B030D-6E8A-4147-A177-3AD203B41FA5}">
                      <a16:colId xmlns:a16="http://schemas.microsoft.com/office/drawing/2014/main" val="1725581157"/>
                    </a:ext>
                  </a:extLst>
                </a:gridCol>
              </a:tblGrid>
              <a:tr h="449862">
                <a:tc>
                  <a:txBody>
                    <a:bodyPr/>
                    <a:lstStyle/>
                    <a:p>
                      <a:pPr algn="ctr"/>
                      <a:r>
                        <a:rPr lang="en-IN" sz="1800" b="1" kern="1200" dirty="0">
                          <a:solidFill>
                            <a:schemeClr val="lt1"/>
                          </a:solidFill>
                          <a:effectLst/>
                          <a:latin typeface="Times New Roman" panose="02020603050405020304" pitchFamily="18" charset="0"/>
                          <a:ea typeface="+mn-ea"/>
                          <a:cs typeface="Times New Roman" panose="02020603050405020304" pitchFamily="18" charset="0"/>
                        </a:rPr>
                        <a:t>SI.NO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sz="1800" b="1" kern="1200" dirty="0">
                          <a:solidFill>
                            <a:schemeClr val="lt1"/>
                          </a:solidFill>
                          <a:effectLst/>
                          <a:latin typeface="Times New Roman" panose="02020603050405020304" pitchFamily="18" charset="0"/>
                          <a:ea typeface="+mn-ea"/>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sz="1800" b="1" kern="1200" dirty="0">
                          <a:solidFill>
                            <a:schemeClr val="lt1"/>
                          </a:solidFill>
                          <a:effectLst/>
                          <a:latin typeface="Times New Roman" panose="02020603050405020304" pitchFamily="18" charset="0"/>
                          <a:ea typeface="+mn-ea"/>
                          <a:cs typeface="Times New Roman" panose="02020603050405020304" pitchFamily="18" charset="0"/>
                        </a:rPr>
                        <a:t>TECHNIQUES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sz="1800" b="1" kern="1200" dirty="0">
                          <a:solidFill>
                            <a:schemeClr val="lt1"/>
                          </a:solidFill>
                          <a:effectLst/>
                          <a:latin typeface="Times New Roman" panose="02020603050405020304" pitchFamily="18" charset="0"/>
                          <a:ea typeface="+mn-ea"/>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02430810"/>
                  </a:ext>
                </a:extLst>
              </a:tr>
              <a:tr h="2086433">
                <a:tc>
                  <a:txBody>
                    <a:bodyPr/>
                    <a:lstStyle/>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 1.</a:t>
                      </a:r>
                      <a:endParaRPr lang="en-IN" sz="1700" dirty="0">
                        <a:latin typeface="Times New Roman" panose="02020603050405020304" pitchFamily="18" charset="0"/>
                        <a:cs typeface="Times New Roman" panose="02020603050405020304" pitchFamily="18" charset="0"/>
                      </a:endParaRPr>
                    </a:p>
                  </a:txBody>
                  <a:tcPr/>
                </a:tc>
                <a:tc>
                  <a:txBody>
                    <a:bodyPr/>
                    <a:lstStyle/>
                    <a:p>
                      <a:pPr marL="3175" marR="0" indent="0" algn="just">
                        <a:lnSpc>
                          <a:spcPct val="113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Deep Learning Improves Prediction Of Drug-Drug </a:t>
                      </a:r>
                    </a:p>
                    <a:p>
                      <a:pPr marL="0" marR="0" indent="0" algn="l">
                        <a:lnSpc>
                          <a:spcPct val="107000"/>
                        </a:lnSpc>
                        <a:spcBef>
                          <a:spcPts val="0"/>
                        </a:spcBef>
                        <a:spcAft>
                          <a:spcPts val="115"/>
                        </a:spcAft>
                        <a:tabLst>
                          <a:tab pos="807720" algn="ctr"/>
                          <a:tab pos="170180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And 	Drug- 	Food </a:t>
                      </a:r>
                    </a:p>
                    <a:p>
                      <a:pPr marL="3175" marR="0" indent="0" algn="l">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Interaction</a:t>
                      </a:r>
                      <a:r>
                        <a:rPr lang="en-US"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17145" marT="10795" marB="0" anchor="ctr"/>
                </a:tc>
                <a:tc>
                  <a:txBody>
                    <a:bodyPr/>
                    <a:lstStyle/>
                    <a:p>
                      <a:pPr marL="0" marR="0" indent="0" algn="just">
                        <a:lnSpc>
                          <a:spcPct val="114000"/>
                        </a:lnSpc>
                        <a:spcBef>
                          <a:spcPts val="0"/>
                        </a:spcBef>
                        <a:spcAft>
                          <a:spcPts val="23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Deep Neural Networks, Structural Similarity </a:t>
                      </a:r>
                    </a:p>
                    <a:p>
                      <a:pPr marL="0" marR="0" indent="0" algn="l">
                        <a:lnSpc>
                          <a:spcPct val="107000"/>
                        </a:lnSpc>
                        <a:spcBef>
                          <a:spcPts val="0"/>
                        </a:spcBef>
                        <a:spcAft>
                          <a:spcPts val="0"/>
                        </a:spcAft>
                        <a:tabLst>
                          <a:tab pos="380365" algn="ct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Profile</a:t>
                      </a:r>
                      <a:r>
                        <a:rPr lang="en-US" sz="1800" baseline="-25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52070" marR="17145" marT="10795" marB="0" anchor="ctr"/>
                </a:tc>
                <a:tc>
                  <a:txBody>
                    <a:bodyPr/>
                    <a:lstStyle/>
                    <a:p>
                      <a:pPr marL="0" marR="36830" indent="0" algn="just">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Based on this survey, the first paper applied deep neural networks with structural similarity profiles. We conclude that our proposed system adopts this approach and further integrates graph neural network features to improve data representation and handle imbalanced datasets.</a:t>
                      </a:r>
                      <a:r>
                        <a:rPr lang="en-US" sz="1800" baseline="-25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52070" marR="17145" marT="10795" marB="0" anchor="ctr"/>
                </a:tc>
                <a:extLst>
                  <a:ext uri="{0D108BD9-81ED-4DB2-BD59-A6C34878D82A}">
                    <a16:rowId xmlns:a16="http://schemas.microsoft.com/office/drawing/2014/main" val="752702010"/>
                  </a:ext>
                </a:extLst>
              </a:tr>
              <a:tr h="2311007">
                <a:tc>
                  <a:txBody>
                    <a:bodyPr/>
                    <a:lstStyle/>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  2.</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indent="0" algn="l">
                        <a:lnSpc>
                          <a:spcPct val="107000"/>
                        </a:lnSpc>
                        <a:spcBef>
                          <a:spcPts val="0"/>
                        </a:spcBef>
                        <a:spcAft>
                          <a:spcPts val="115"/>
                        </a:spcAft>
                        <a:tabLst>
                          <a:tab pos="727710" algn="ctr"/>
                          <a:tab pos="170180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 	Multimodal 	Deep </a:t>
                      </a:r>
                    </a:p>
                    <a:p>
                      <a:pPr marL="3175" marR="0" indent="0" algn="just">
                        <a:lnSpc>
                          <a:spcPct val="113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Learning Framework For Predicting Drug-Drug </a:t>
                      </a:r>
                    </a:p>
                    <a:p>
                      <a:pPr marL="3175" marR="0" indent="0" algn="l">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Interaction Events</a:t>
                      </a:r>
                      <a:r>
                        <a:rPr lang="en-US"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17145" marT="10795" marB="0" anchor="ctr"/>
                </a:tc>
                <a:tc>
                  <a:txBody>
                    <a:bodyPr/>
                    <a:lstStyle/>
                    <a:p>
                      <a:pPr marL="0" marR="0" indent="0" algn="just">
                        <a:lnSpc>
                          <a:spcPct val="112000"/>
                        </a:lnSpc>
                        <a:spcBef>
                          <a:spcPts val="0"/>
                        </a:spcBef>
                        <a:spcAft>
                          <a:spcPts val="25"/>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Graph Convolutional Networks (GCNs), </a:t>
                      </a:r>
                    </a:p>
                    <a:p>
                      <a:pPr marL="0" marR="0" indent="0" algn="l">
                        <a:lnSpc>
                          <a:spcPct val="107000"/>
                        </a:lnSpc>
                        <a:spcBef>
                          <a:spcPts val="0"/>
                        </a:spcBef>
                        <a:spcAft>
                          <a:spcPts val="110"/>
                        </a:spcAft>
                        <a:tabLst>
                          <a:tab pos="142113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CNNs, 	Attenstion </a:t>
                      </a:r>
                    </a:p>
                    <a:p>
                      <a:pPr marL="0" marR="0" indent="0" algn="just">
                        <a:lnSpc>
                          <a:spcPct val="107000"/>
                        </a:lnSpc>
                        <a:spcBef>
                          <a:spcPts val="0"/>
                        </a:spcBef>
                        <a:spcAft>
                          <a:spcPts val="29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Mechanism, Multimodal </a:t>
                      </a:r>
                    </a:p>
                    <a:p>
                      <a:pPr marL="0" marR="0" indent="0" algn="l">
                        <a:lnSpc>
                          <a:spcPct val="107000"/>
                        </a:lnSpc>
                        <a:spcBef>
                          <a:spcPts val="0"/>
                        </a:spcBef>
                        <a:spcAft>
                          <a:spcPts val="0"/>
                        </a:spcAft>
                        <a:tabLst>
                          <a:tab pos="833755" algn="ct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Deep Learning</a:t>
                      </a:r>
                      <a:r>
                        <a:rPr lang="en-US" sz="1800" baseline="-25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52070" marR="17145" marT="10795" marB="0" anchor="ctr"/>
                </a:tc>
                <a:tc>
                  <a:txBody>
                    <a:bodyPr/>
                    <a:lstStyle/>
                    <a:p>
                      <a:pPr marL="0" marR="40640" indent="0" algn="just">
                        <a:lnSpc>
                          <a:spcPct val="107000"/>
                        </a:lnSpc>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Based on this survey, the second paper applied graph convolutional networks and attention mechanisms for multimodal data integration. We conclude that our proposed system uses similar techniques to generate better features for classifying rare drug interactions. </a:t>
                      </a:r>
                    </a:p>
                  </a:txBody>
                  <a:tcPr marL="52070" marR="17145" marT="10795" marB="0" anchor="ctr"/>
                </a:tc>
                <a:extLst>
                  <a:ext uri="{0D108BD9-81ED-4DB2-BD59-A6C34878D82A}">
                    <a16:rowId xmlns:a16="http://schemas.microsoft.com/office/drawing/2014/main" val="3979983606"/>
                  </a:ext>
                </a:extLst>
              </a:tr>
            </a:tbl>
          </a:graphicData>
        </a:graphic>
      </p:graphicFrame>
      <p:sp>
        <p:nvSpPr>
          <p:cNvPr id="4" name="Footer Placeholder 3">
            <a:extLst>
              <a:ext uri="{FF2B5EF4-FFF2-40B4-BE49-F238E27FC236}">
                <a16:creationId xmlns:a16="http://schemas.microsoft.com/office/drawing/2014/main" id="{EDFD4E3F-97A0-C611-CFC8-8B64FAE3EE43}"/>
              </a:ext>
            </a:extLst>
          </p:cNvPr>
          <p:cNvSpPr>
            <a:spLocks noGrp="1"/>
          </p:cNvSpPr>
          <p:nvPr>
            <p:ph type="ftr" sz="quarter" idx="11"/>
          </p:nvPr>
        </p:nvSpPr>
        <p:spPr>
          <a:xfrm>
            <a:off x="4733002" y="6325479"/>
            <a:ext cx="2725994" cy="365125"/>
          </a:xfrm>
        </p:spPr>
        <p:txBody>
          <a:bodyPr/>
          <a:lstStyle/>
          <a:p>
            <a:r>
              <a:rPr lang="en-US" dirty="0"/>
              <a:t>Paper ID : 2602167             Category : UG </a:t>
            </a:r>
          </a:p>
        </p:txBody>
      </p:sp>
    </p:spTree>
    <p:extLst>
      <p:ext uri="{BB962C8B-B14F-4D97-AF65-F5344CB8AC3E}">
        <p14:creationId xmlns:p14="http://schemas.microsoft.com/office/powerpoint/2010/main" val="3145373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0E023-C300-844C-7D4E-EE13F0FB647D}"/>
              </a:ext>
            </a:extLst>
          </p:cNvPr>
          <p:cNvSpPr>
            <a:spLocks noGrp="1"/>
          </p:cNvSpPr>
          <p:nvPr>
            <p:ph type="title"/>
          </p:nvPr>
        </p:nvSpPr>
        <p:spPr>
          <a:xfrm>
            <a:off x="2438400" y="351910"/>
            <a:ext cx="7315200" cy="669975"/>
          </a:xfrm>
        </p:spPr>
        <p:txBody>
          <a:bodyPr>
            <a:noAutofit/>
          </a:bodyPr>
          <a:lstStyle/>
          <a:p>
            <a:r>
              <a:rPr lang="en-US" sz="4800" b="1" spc="210" dirty="0">
                <a:latin typeface="Times New Roman" panose="02020603050405020304" pitchFamily="18" charset="0"/>
                <a:cs typeface="Times New Roman" panose="02020603050405020304" pitchFamily="18" charset="0"/>
              </a:rPr>
              <a:t>LITERATURE REVIEW</a:t>
            </a:r>
            <a:endParaRPr lang="en-IN" sz="4800" dirty="0"/>
          </a:p>
        </p:txBody>
      </p:sp>
      <p:graphicFrame>
        <p:nvGraphicFramePr>
          <p:cNvPr id="5" name="Content Placeholder 4">
            <a:extLst>
              <a:ext uri="{FF2B5EF4-FFF2-40B4-BE49-F238E27FC236}">
                <a16:creationId xmlns:a16="http://schemas.microsoft.com/office/drawing/2014/main" id="{61F0354F-E60F-2C16-28FA-312B399D85A0}"/>
              </a:ext>
            </a:extLst>
          </p:cNvPr>
          <p:cNvGraphicFramePr>
            <a:graphicFrameLocks noGrp="1"/>
          </p:cNvGraphicFramePr>
          <p:nvPr>
            <p:ph idx="1"/>
            <p:extLst>
              <p:ext uri="{D42A27DB-BD31-4B8C-83A1-F6EECF244321}">
                <p14:modId xmlns:p14="http://schemas.microsoft.com/office/powerpoint/2010/main" val="3312620999"/>
              </p:ext>
            </p:extLst>
          </p:nvPr>
        </p:nvGraphicFramePr>
        <p:xfrm>
          <a:off x="838199" y="1327356"/>
          <a:ext cx="10515600" cy="4757132"/>
        </p:xfrm>
        <a:graphic>
          <a:graphicData uri="http://schemas.openxmlformats.org/drawingml/2006/table">
            <a:tbl>
              <a:tblPr firstRow="1" bandRow="1">
                <a:tableStyleId>{5C22544A-7EE6-4342-B048-85BDC9FD1C3A}</a:tableStyleId>
              </a:tblPr>
              <a:tblGrid>
                <a:gridCol w="803787">
                  <a:extLst>
                    <a:ext uri="{9D8B030D-6E8A-4147-A177-3AD203B41FA5}">
                      <a16:colId xmlns:a16="http://schemas.microsoft.com/office/drawing/2014/main" val="3059594464"/>
                    </a:ext>
                  </a:extLst>
                </a:gridCol>
                <a:gridCol w="2526891">
                  <a:extLst>
                    <a:ext uri="{9D8B030D-6E8A-4147-A177-3AD203B41FA5}">
                      <a16:colId xmlns:a16="http://schemas.microsoft.com/office/drawing/2014/main" val="3974040517"/>
                    </a:ext>
                  </a:extLst>
                </a:gridCol>
                <a:gridCol w="2949678">
                  <a:extLst>
                    <a:ext uri="{9D8B030D-6E8A-4147-A177-3AD203B41FA5}">
                      <a16:colId xmlns:a16="http://schemas.microsoft.com/office/drawing/2014/main" val="1025991727"/>
                    </a:ext>
                  </a:extLst>
                </a:gridCol>
                <a:gridCol w="4235244">
                  <a:extLst>
                    <a:ext uri="{9D8B030D-6E8A-4147-A177-3AD203B41FA5}">
                      <a16:colId xmlns:a16="http://schemas.microsoft.com/office/drawing/2014/main" val="763358223"/>
                    </a:ext>
                  </a:extLst>
                </a:gridCol>
              </a:tblGrid>
              <a:tr h="4621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SI.NO</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TECHNIQUES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1060408"/>
                  </a:ext>
                </a:extLst>
              </a:tr>
              <a:tr h="2088389">
                <a:tc>
                  <a:txBody>
                    <a:bodyPr/>
                    <a:lstStyle/>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 3.</a:t>
                      </a:r>
                      <a:endParaRPr lang="en-IN" sz="1700" dirty="0">
                        <a:latin typeface="Times New Roman" panose="02020603050405020304" pitchFamily="18" charset="0"/>
                        <a:cs typeface="Times New Roman" panose="02020603050405020304" pitchFamily="18" charset="0"/>
                      </a:endParaRPr>
                    </a:p>
                  </a:txBody>
                  <a:tcPr/>
                </a:tc>
                <a:tc>
                  <a:txBody>
                    <a:bodyPr/>
                    <a:lstStyle/>
                    <a:p>
                      <a:pPr marL="3175" marR="0" indent="0" algn="l">
                        <a:lnSpc>
                          <a:spcPct val="113000"/>
                        </a:lnSpc>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Drug-Drug Interaction Prediction By Neural </a:t>
                      </a:r>
                    </a:p>
                    <a:p>
                      <a:pPr marL="3175" marR="0" indent="0" algn="l">
                        <a:lnSpc>
                          <a:spcPct val="107000"/>
                        </a:lnSpc>
                        <a:spcBef>
                          <a:spcPts val="0"/>
                        </a:spcBef>
                        <a:spcAft>
                          <a:spcPts val="8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Network Using Integrated </a:t>
                      </a:r>
                    </a:p>
                    <a:p>
                      <a:pPr marL="3175" marR="0" indent="0" algn="l">
                        <a:lnSpc>
                          <a:spcPct val="107000"/>
                        </a:lnSpc>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Similarly</a:t>
                      </a: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17145" marT="10795" marB="0" anchor="ctr"/>
                </a:tc>
                <a:tc>
                  <a:txBody>
                    <a:bodyPr/>
                    <a:lstStyle/>
                    <a:p>
                      <a:pPr marL="0" marR="0" indent="0" algn="l">
                        <a:lnSpc>
                          <a:spcPct val="107000"/>
                        </a:lnSpc>
                        <a:spcBef>
                          <a:spcPts val="0"/>
                        </a:spcBef>
                        <a:spcAft>
                          <a:spcPts val="115"/>
                        </a:spcAft>
                        <a:tabLst>
                          <a:tab pos="142113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Deep 	Neural </a:t>
                      </a:r>
                    </a:p>
                    <a:p>
                      <a:pPr marL="0" marR="40640" indent="0" algn="l">
                        <a:lnSpc>
                          <a:spcPct val="113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Networks, Structural Similarity Profiles (SSPs), Multilabel </a:t>
                      </a:r>
                    </a:p>
                    <a:p>
                      <a:pPr marL="0" marR="0" indent="0" algn="l">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 </a:t>
                      </a:r>
                    </a:p>
                  </a:txBody>
                  <a:tcPr marL="52070" marR="17145" marT="10795" marB="0" anchor="ctr"/>
                </a:tc>
                <a:tc>
                  <a:txBody>
                    <a:bodyPr/>
                    <a:lstStyle/>
                    <a:p>
                      <a:pPr marL="0" marR="40005" indent="0" algn="l">
                        <a:lnSpc>
                          <a:spcPct val="107000"/>
                        </a:lnSpc>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Based on this survey, the third paper applied deep neural networks with integrated structural similarity profiles. We conclude that our proposed system follows this method and incorporates graph neural network embeddings to better generalize with imbalanced data. </a:t>
                      </a:r>
                    </a:p>
                  </a:txBody>
                  <a:tcPr marL="52070" marR="17145" marT="10795" marB="0" anchor="ctr"/>
                </a:tc>
                <a:extLst>
                  <a:ext uri="{0D108BD9-81ED-4DB2-BD59-A6C34878D82A}">
                    <a16:rowId xmlns:a16="http://schemas.microsoft.com/office/drawing/2014/main" val="178166066"/>
                  </a:ext>
                </a:extLst>
              </a:tr>
              <a:tr h="2206628">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4.</a:t>
                      </a:r>
                      <a:endParaRPr lang="en-IN" dirty="0">
                        <a:latin typeface="Times New Roman" panose="02020603050405020304" pitchFamily="18" charset="0"/>
                        <a:cs typeface="Times New Roman" panose="02020603050405020304" pitchFamily="18" charset="0"/>
                      </a:endParaRPr>
                    </a:p>
                  </a:txBody>
                  <a:tcPr/>
                </a:tc>
                <a:tc>
                  <a:txBody>
                    <a:bodyPr/>
                    <a:lstStyle/>
                    <a:p>
                      <a:pPr marL="3175" marR="38100" indent="0" algn="l">
                        <a:lnSpc>
                          <a:spcPct val="113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SSI-DDI: SubstructureSubstructure Interaction For Drug-Drug Interaction </a:t>
                      </a:r>
                    </a:p>
                    <a:p>
                      <a:pPr marL="3175" marR="0" indent="0" algn="l">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Prediction</a:t>
                      </a:r>
                      <a:r>
                        <a:rPr lang="en-US"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17145" marT="10795" marB="0" anchor="ctr"/>
                </a:tc>
                <a:tc>
                  <a:txBody>
                    <a:bodyPr/>
                    <a:lstStyle/>
                    <a:p>
                      <a:pPr marL="0" marR="0" indent="0" algn="l">
                        <a:lnSpc>
                          <a:spcPct val="107000"/>
                        </a:lnSpc>
                        <a:spcBef>
                          <a:spcPts val="0"/>
                        </a:spcBef>
                        <a:spcAft>
                          <a:spcPts val="115"/>
                        </a:spcAft>
                        <a:tabLst>
                          <a:tab pos="142113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Deep 	Learning </a:t>
                      </a:r>
                    </a:p>
                    <a:p>
                      <a:pPr marL="0" marR="0" indent="0" algn="l">
                        <a:lnSpc>
                          <a:spcPct val="107000"/>
                        </a:lnSpc>
                        <a:spcBef>
                          <a:spcPts val="0"/>
                        </a:spcBef>
                        <a:spcAft>
                          <a:spcPts val="115"/>
                        </a:spcAft>
                        <a:tabLst>
                          <a:tab pos="142113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Framework 	Called </a:t>
                      </a:r>
                    </a:p>
                    <a:p>
                      <a:pPr marL="0" marR="0" indent="0" algn="l">
                        <a:lnSpc>
                          <a:spcPct val="107000"/>
                        </a:lnSpc>
                        <a:spcBef>
                          <a:spcPts val="0"/>
                        </a:spcBef>
                        <a:spcAft>
                          <a:spcPts val="8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Substructure-</a:t>
                      </a:r>
                    </a:p>
                    <a:p>
                      <a:pPr marL="0" marR="0" indent="0" algn="l">
                        <a:lnSpc>
                          <a:spcPct val="107000"/>
                        </a:lnSpc>
                        <a:spcBef>
                          <a:spcPts val="0"/>
                        </a:spcBef>
                        <a:spcAft>
                          <a:spcPts val="8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Substructure </a:t>
                      </a:r>
                    </a:p>
                    <a:p>
                      <a:pPr marL="0" marR="33020" indent="0" algn="l">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Interaction-DrugDrug interaction (SSIDDI) </a:t>
                      </a:r>
                    </a:p>
                  </a:txBody>
                  <a:tcPr marL="52070" marR="17145" marT="10795" marB="0"/>
                </a:tc>
                <a:tc>
                  <a:txBody>
                    <a:bodyPr/>
                    <a:lstStyle/>
                    <a:p>
                      <a:pPr marL="0" marR="40005" indent="0" algn="l">
                        <a:lnSpc>
                          <a:spcPct val="107000"/>
                        </a:lnSpc>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Based on this survey, the fourth paper applied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sbstructure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-substructure interaction modeling on molecular graphs. We conclude that our proposed system adopts this framework to address data sparsity and imbalance and enable predict. </a:t>
                      </a:r>
                    </a:p>
                  </a:txBody>
                  <a:tcPr marL="52070" marR="17145" marT="10795" marB="0" anchor="ctr"/>
                </a:tc>
                <a:extLst>
                  <a:ext uri="{0D108BD9-81ED-4DB2-BD59-A6C34878D82A}">
                    <a16:rowId xmlns:a16="http://schemas.microsoft.com/office/drawing/2014/main" val="3493213626"/>
                  </a:ext>
                </a:extLst>
              </a:tr>
            </a:tbl>
          </a:graphicData>
        </a:graphic>
      </p:graphicFrame>
      <p:sp>
        <p:nvSpPr>
          <p:cNvPr id="4" name="Footer Placeholder 3">
            <a:extLst>
              <a:ext uri="{FF2B5EF4-FFF2-40B4-BE49-F238E27FC236}">
                <a16:creationId xmlns:a16="http://schemas.microsoft.com/office/drawing/2014/main" id="{DA16E0B3-5596-0190-64E8-C7B9DF9F8A5F}"/>
              </a:ext>
            </a:extLst>
          </p:cNvPr>
          <p:cNvSpPr>
            <a:spLocks noGrp="1"/>
          </p:cNvSpPr>
          <p:nvPr>
            <p:ph type="ftr" sz="quarter" idx="11"/>
          </p:nvPr>
        </p:nvSpPr>
        <p:spPr>
          <a:xfrm>
            <a:off x="4698590" y="6323527"/>
            <a:ext cx="2794819" cy="365125"/>
          </a:xfrm>
        </p:spPr>
        <p:txBody>
          <a:bodyPr/>
          <a:lstStyle/>
          <a:p>
            <a:r>
              <a:rPr lang="en-US" dirty="0"/>
              <a:t>Paper ID : 2602167             Category : UG  </a:t>
            </a:r>
          </a:p>
        </p:txBody>
      </p:sp>
    </p:spTree>
    <p:extLst>
      <p:ext uri="{BB962C8B-B14F-4D97-AF65-F5344CB8AC3E}">
        <p14:creationId xmlns:p14="http://schemas.microsoft.com/office/powerpoint/2010/main" val="2733427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820C-C8B2-EC56-5E73-2A3A1CB99C82}"/>
              </a:ext>
            </a:extLst>
          </p:cNvPr>
          <p:cNvSpPr>
            <a:spLocks noGrp="1"/>
          </p:cNvSpPr>
          <p:nvPr>
            <p:ph type="title"/>
          </p:nvPr>
        </p:nvSpPr>
        <p:spPr>
          <a:xfrm>
            <a:off x="2390467" y="292917"/>
            <a:ext cx="7411065" cy="787962"/>
          </a:xfrm>
        </p:spPr>
        <p:txBody>
          <a:bodyPr>
            <a:normAutofit/>
          </a:bodyPr>
          <a:lstStyle/>
          <a:p>
            <a:r>
              <a:rPr lang="en-US" sz="4800" b="1" spc="210" dirty="0">
                <a:latin typeface="Times New Roman" panose="02020603050405020304" pitchFamily="18" charset="0"/>
                <a:cs typeface="Times New Roman" panose="02020603050405020304" pitchFamily="18" charset="0"/>
              </a:rPr>
              <a:t>LITERATURE REVIEW</a:t>
            </a:r>
            <a:endParaRPr lang="en-IN" sz="4800" dirty="0"/>
          </a:p>
        </p:txBody>
      </p:sp>
      <p:graphicFrame>
        <p:nvGraphicFramePr>
          <p:cNvPr id="5" name="Content Placeholder 4">
            <a:extLst>
              <a:ext uri="{FF2B5EF4-FFF2-40B4-BE49-F238E27FC236}">
                <a16:creationId xmlns:a16="http://schemas.microsoft.com/office/drawing/2014/main" id="{C8998028-9C77-9A30-AFA1-C724C5AEC49C}"/>
              </a:ext>
            </a:extLst>
          </p:cNvPr>
          <p:cNvGraphicFramePr>
            <a:graphicFrameLocks noGrp="1"/>
          </p:cNvGraphicFramePr>
          <p:nvPr>
            <p:ph idx="1"/>
            <p:extLst>
              <p:ext uri="{D42A27DB-BD31-4B8C-83A1-F6EECF244321}">
                <p14:modId xmlns:p14="http://schemas.microsoft.com/office/powerpoint/2010/main" val="1578422206"/>
              </p:ext>
            </p:extLst>
          </p:nvPr>
        </p:nvGraphicFramePr>
        <p:xfrm>
          <a:off x="838199" y="1534139"/>
          <a:ext cx="10515600" cy="4381143"/>
        </p:xfrm>
        <a:graphic>
          <a:graphicData uri="http://schemas.openxmlformats.org/drawingml/2006/table">
            <a:tbl>
              <a:tblPr firstRow="1" bandRow="1">
                <a:tableStyleId>{5C22544A-7EE6-4342-B048-85BDC9FD1C3A}</a:tableStyleId>
              </a:tblPr>
              <a:tblGrid>
                <a:gridCol w="813619">
                  <a:extLst>
                    <a:ext uri="{9D8B030D-6E8A-4147-A177-3AD203B41FA5}">
                      <a16:colId xmlns:a16="http://schemas.microsoft.com/office/drawing/2014/main" val="2296559666"/>
                    </a:ext>
                  </a:extLst>
                </a:gridCol>
                <a:gridCol w="2526891">
                  <a:extLst>
                    <a:ext uri="{9D8B030D-6E8A-4147-A177-3AD203B41FA5}">
                      <a16:colId xmlns:a16="http://schemas.microsoft.com/office/drawing/2014/main" val="3078504158"/>
                    </a:ext>
                  </a:extLst>
                </a:gridCol>
                <a:gridCol w="2900516">
                  <a:extLst>
                    <a:ext uri="{9D8B030D-6E8A-4147-A177-3AD203B41FA5}">
                      <a16:colId xmlns:a16="http://schemas.microsoft.com/office/drawing/2014/main" val="2174937588"/>
                    </a:ext>
                  </a:extLst>
                </a:gridCol>
                <a:gridCol w="4274574">
                  <a:extLst>
                    <a:ext uri="{9D8B030D-6E8A-4147-A177-3AD203B41FA5}">
                      <a16:colId xmlns:a16="http://schemas.microsoft.com/office/drawing/2014/main" val="2019033830"/>
                    </a:ext>
                  </a:extLst>
                </a:gridCol>
              </a:tblGrid>
              <a:tr h="5011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SI.NO</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TECHNIQUES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Times New Roman" panose="02020603050405020304" pitchFamily="18" charset="0"/>
                          <a:ea typeface="+mn-ea"/>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6055742"/>
                  </a:ext>
                </a:extLst>
              </a:tr>
              <a:tr h="3880005">
                <a:tc>
                  <a:txBody>
                    <a:bodyPr/>
                    <a:lstStyle/>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   5.</a:t>
                      </a:r>
                      <a:endParaRPr lang="en-IN" sz="1700" dirty="0">
                        <a:latin typeface="Times New Roman" panose="02020603050405020304" pitchFamily="18" charset="0"/>
                        <a:cs typeface="Times New Roman" panose="02020603050405020304" pitchFamily="18" charset="0"/>
                      </a:endParaRPr>
                    </a:p>
                  </a:txBody>
                  <a:tcPr/>
                </a:tc>
                <a:tc>
                  <a:txBody>
                    <a:bodyPr/>
                    <a:lstStyle/>
                    <a:p>
                      <a:pPr marL="3175" marR="0" indent="0" algn="l">
                        <a:lnSpc>
                          <a:spcPct val="107000"/>
                        </a:lnSpc>
                        <a:spcBef>
                          <a:spcPts val="0"/>
                        </a:spcBef>
                        <a:spcAft>
                          <a:spcPts val="8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Prediction </a:t>
                      </a:r>
                    </a:p>
                    <a:p>
                      <a:pPr marL="3175" marR="0" indent="0" algn="just">
                        <a:lnSpc>
                          <a:spcPct val="113000"/>
                        </a:lnSpc>
                        <a:spcBef>
                          <a:spcPts val="0"/>
                        </a:spcBef>
                        <a:spcAft>
                          <a:spcPts val="25"/>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Pharmacodynamic DrugDrug Interaction Through </a:t>
                      </a:r>
                    </a:p>
                    <a:p>
                      <a:pPr marL="3175" marR="38100" indent="0" algn="just">
                        <a:lnSpc>
                          <a:spcPct val="113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Signaling Propagation Interference On ProteinProtein Interaction </a:t>
                      </a:r>
                    </a:p>
                    <a:p>
                      <a:pPr marL="3175" marR="0" indent="0" algn="l">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Networks </a:t>
                      </a:r>
                    </a:p>
                  </a:txBody>
                  <a:tcPr marL="52070" marR="17145" marT="10795" marB="0" anchor="ctr"/>
                </a:tc>
                <a:tc>
                  <a:txBody>
                    <a:bodyPr/>
                    <a:lstStyle/>
                    <a:p>
                      <a:pPr marL="0" marR="0" indent="0" algn="l">
                        <a:lnSpc>
                          <a:spcPct val="107000"/>
                        </a:lnSpc>
                        <a:spcBef>
                          <a:spcPts val="0"/>
                        </a:spcBef>
                        <a:spcAft>
                          <a:spcPts val="8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Propagation </a:t>
                      </a:r>
                    </a:p>
                    <a:p>
                      <a:pPr marL="0" marR="0" indent="0" algn="l">
                        <a:lnSpc>
                          <a:spcPct val="107000"/>
                        </a:lnSpc>
                        <a:spcBef>
                          <a:spcPts val="0"/>
                        </a:spcBef>
                        <a:spcAft>
                          <a:spcPts val="140"/>
                        </a:spcAft>
                        <a:tabLst>
                          <a:tab pos="142113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Interference 	On </a:t>
                      </a:r>
                    </a:p>
                    <a:p>
                      <a:pPr marL="0" marR="0" indent="0" algn="l">
                        <a:lnSpc>
                          <a:spcPct val="107000"/>
                        </a:lnSpc>
                        <a:spcBef>
                          <a:spcPts val="0"/>
                        </a:spcBef>
                        <a:spcAft>
                          <a:spcPts val="8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Protein-Protein </a:t>
                      </a:r>
                    </a:p>
                    <a:p>
                      <a:pPr marL="0" marR="0" indent="0" algn="l">
                        <a:lnSpc>
                          <a:spcPct val="107000"/>
                        </a:lnSpc>
                        <a:spcBef>
                          <a:spcPts val="0"/>
                        </a:spcBef>
                        <a:spcAft>
                          <a:spcPts val="115"/>
                        </a:spcAft>
                        <a:tabLst>
                          <a:tab pos="1421130" algn="r"/>
                        </a:tabLs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Interaction 	(PPI) </a:t>
                      </a:r>
                    </a:p>
                    <a:p>
                      <a:pPr marL="0" marR="0" indent="0" algn="l">
                        <a:lnSpc>
                          <a:spcPct val="107000"/>
                        </a:lnSpc>
                        <a:spcBef>
                          <a:spcPts val="0"/>
                        </a:spcBef>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Networks </a:t>
                      </a:r>
                    </a:p>
                  </a:txBody>
                  <a:tcPr marL="52070" marR="17145" marT="10795" marB="0" anchor="ctr"/>
                </a:tc>
                <a:tc>
                  <a:txBody>
                    <a:bodyPr/>
                    <a:lstStyle/>
                    <a:p>
                      <a:pPr marL="0" marR="40005" indent="0" algn="just">
                        <a:lnSpc>
                          <a:spcPct val="107000"/>
                        </a:lnSpc>
                        <a:spcBef>
                          <a:spcPts val="0"/>
                        </a:spcBef>
                        <a:spcAft>
                          <a:spcPts val="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Based on this survey, the fifth paper applied protein-protein interaction networks modeled with graph neural networks to predict pharmacodynamic drug interactions. We conclude that our proposed system adopts this approach for robust predictions despite imbalanced data. </a:t>
                      </a:r>
                    </a:p>
                  </a:txBody>
                  <a:tcPr marL="52070" marR="17145" marT="10795" marB="0" anchor="ctr"/>
                </a:tc>
                <a:extLst>
                  <a:ext uri="{0D108BD9-81ED-4DB2-BD59-A6C34878D82A}">
                    <a16:rowId xmlns:a16="http://schemas.microsoft.com/office/drawing/2014/main" val="1532292621"/>
                  </a:ext>
                </a:extLst>
              </a:tr>
            </a:tbl>
          </a:graphicData>
        </a:graphic>
      </p:graphicFrame>
      <p:sp>
        <p:nvSpPr>
          <p:cNvPr id="4" name="Footer Placeholder 3">
            <a:extLst>
              <a:ext uri="{FF2B5EF4-FFF2-40B4-BE49-F238E27FC236}">
                <a16:creationId xmlns:a16="http://schemas.microsoft.com/office/drawing/2014/main" id="{BA0F580C-8670-4032-D5B5-46C30260716E}"/>
              </a:ext>
            </a:extLst>
          </p:cNvPr>
          <p:cNvSpPr>
            <a:spLocks noGrp="1"/>
          </p:cNvSpPr>
          <p:nvPr>
            <p:ph type="ftr" sz="quarter" idx="11"/>
          </p:nvPr>
        </p:nvSpPr>
        <p:spPr>
          <a:xfrm>
            <a:off x="4674008" y="6368542"/>
            <a:ext cx="2843981" cy="365125"/>
          </a:xfrm>
        </p:spPr>
        <p:txBody>
          <a:bodyPr/>
          <a:lstStyle/>
          <a:p>
            <a:r>
              <a:rPr lang="en-US" dirty="0"/>
              <a:t>Paper ID : 2602167             Category : UG  </a:t>
            </a:r>
          </a:p>
        </p:txBody>
      </p:sp>
    </p:spTree>
    <p:extLst>
      <p:ext uri="{BB962C8B-B14F-4D97-AF65-F5344CB8AC3E}">
        <p14:creationId xmlns:p14="http://schemas.microsoft.com/office/powerpoint/2010/main" val="2622778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3570715" y="299909"/>
            <a:ext cx="5140666" cy="634156"/>
          </a:xfrm>
        </p:spPr>
        <p:txBody>
          <a:bodyPr>
            <a:noAutofit/>
          </a:bodyPr>
          <a:lstStyle/>
          <a:p>
            <a:r>
              <a:rPr lang="en-US" b="1" spc="210" dirty="0">
                <a:latin typeface="Times New Roman" panose="02020603050405020304" pitchFamily="18" charset="0"/>
                <a:cs typeface="Times New Roman" panose="02020603050405020304" pitchFamily="18" charset="0"/>
              </a:rPr>
              <a:t>METHODOLOGY</a:t>
            </a:r>
            <a:endParaRPr lang="en-US" b="1"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258842BD-7D91-FA52-9752-1EF17AFCB91E}"/>
              </a:ext>
            </a:extLst>
          </p:cNvPr>
          <p:cNvSpPr>
            <a:spLocks noGrp="1"/>
          </p:cNvSpPr>
          <p:nvPr>
            <p:ph type="ftr" sz="quarter" idx="11"/>
          </p:nvPr>
        </p:nvSpPr>
        <p:spPr>
          <a:xfrm>
            <a:off x="4544108" y="6362573"/>
            <a:ext cx="2784987" cy="365125"/>
          </a:xfrm>
        </p:spPr>
        <p:txBody>
          <a:bodyPr/>
          <a:lstStyle/>
          <a:p>
            <a:r>
              <a:rPr lang="en-US" dirty="0"/>
              <a:t>Paper ID : 2602167             Category : UG  </a:t>
            </a:r>
          </a:p>
        </p:txBody>
      </p:sp>
      <p:pic>
        <p:nvPicPr>
          <p:cNvPr id="9" name="Content Placeholder 8">
            <a:extLst>
              <a:ext uri="{FF2B5EF4-FFF2-40B4-BE49-F238E27FC236}">
                <a16:creationId xmlns:a16="http://schemas.microsoft.com/office/drawing/2014/main" id="{534F0652-67A6-9943-A521-4B6959FA1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1167" y="1472650"/>
            <a:ext cx="10150868" cy="4351338"/>
          </a:xfrm>
        </p:spPr>
      </p:pic>
    </p:spTree>
    <p:extLst>
      <p:ext uri="{BB962C8B-B14F-4D97-AF65-F5344CB8AC3E}">
        <p14:creationId xmlns:p14="http://schemas.microsoft.com/office/powerpoint/2010/main" val="391722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B7323-65D9-0869-6796-C9E1DD0F4546}"/>
              </a:ext>
            </a:extLst>
          </p:cNvPr>
          <p:cNvSpPr>
            <a:spLocks noGrp="1"/>
          </p:cNvSpPr>
          <p:nvPr>
            <p:ph type="title"/>
          </p:nvPr>
        </p:nvSpPr>
        <p:spPr>
          <a:xfrm>
            <a:off x="3526092" y="361743"/>
            <a:ext cx="5139813" cy="552657"/>
          </a:xfrm>
        </p:spPr>
        <p:txBody>
          <a:bodyPr>
            <a:noAutofit/>
          </a:bodyPr>
          <a:lstStyle/>
          <a:p>
            <a:r>
              <a:rPr lang="en-US" b="1" spc="210"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DAA6C503-985A-CF02-BDEB-6E25ACBCFE96}"/>
              </a:ext>
            </a:extLst>
          </p:cNvPr>
          <p:cNvSpPr>
            <a:spLocks noGrp="1"/>
          </p:cNvSpPr>
          <p:nvPr>
            <p:ph idx="1"/>
          </p:nvPr>
        </p:nvSpPr>
        <p:spPr>
          <a:xfrm>
            <a:off x="838198" y="1105911"/>
            <a:ext cx="10515600" cy="4857136"/>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1. Data Collection: </a:t>
            </a:r>
            <a:r>
              <a:rPr lang="en-US" sz="1800" dirty="0">
                <a:latin typeface="Times New Roman" panose="02020603050405020304" pitchFamily="18" charset="0"/>
                <a:cs typeface="Times New Roman" panose="02020603050405020304" pitchFamily="18" charset="0"/>
              </a:rPr>
              <a:t>Multiple biomedical datasets were collected including </a:t>
            </a:r>
            <a:r>
              <a:rPr lang="en-US" sz="1800" dirty="0" err="1">
                <a:latin typeface="Times New Roman" panose="02020603050405020304" pitchFamily="18" charset="0"/>
                <a:cs typeface="Times New Roman" panose="02020603050405020304" pitchFamily="18" charset="0"/>
              </a:rPr>
              <a:t>DrugBank</a:t>
            </a:r>
            <a:r>
              <a:rPr lang="en-US" sz="1800" dirty="0">
                <a:latin typeface="Times New Roman" panose="02020603050405020304" pitchFamily="18" charset="0"/>
                <a:cs typeface="Times New Roman" panose="02020603050405020304" pitchFamily="18" charset="0"/>
              </a:rPr>
              <a:t> drug interactions, ATC classification codes, chemical SMILES structures, and side-effect data. These datasets provide structural, clinical, and pharmacological information about drugs.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2. Data Preprocessing: </a:t>
            </a:r>
            <a:r>
              <a:rPr lang="en-US" sz="1800" dirty="0">
                <a:latin typeface="Times New Roman" panose="02020603050405020304" pitchFamily="18" charset="0"/>
                <a:cs typeface="Times New Roman" panose="02020603050405020304" pitchFamily="18" charset="0"/>
              </a:rPr>
              <a:t>The collected datasets were cleaned and standardized by removing missing values, mapping </a:t>
            </a:r>
            <a:r>
              <a:rPr lang="en-US" sz="1800" dirty="0" err="1">
                <a:latin typeface="Times New Roman" panose="02020603050405020304" pitchFamily="18" charset="0"/>
                <a:cs typeface="Times New Roman" panose="02020603050405020304" pitchFamily="18" charset="0"/>
              </a:rPr>
              <a:t>DrugBank</a:t>
            </a:r>
            <a:r>
              <a:rPr lang="en-US" sz="1800" dirty="0">
                <a:latin typeface="Times New Roman" panose="02020603050405020304" pitchFamily="18" charset="0"/>
                <a:cs typeface="Times New Roman" panose="02020603050405020304" pitchFamily="18" charset="0"/>
              </a:rPr>
              <a:t> IDs, and converting categorical drug information into numerical format suitable for machine learning models.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3. Feature Engineering: </a:t>
            </a:r>
            <a:r>
              <a:rPr lang="en-US" sz="1800" dirty="0">
                <a:latin typeface="Times New Roman" panose="02020603050405020304" pitchFamily="18" charset="0"/>
                <a:cs typeface="Times New Roman" panose="02020603050405020304" pitchFamily="18" charset="0"/>
              </a:rPr>
              <a:t>Drug features were generated using multiple representations including graph embeddings, ATC features, chemical fingerprints, biological features, and side-effect vectors. These features were combined into a unified feature vector for each drug.</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4. Model Development: </a:t>
            </a:r>
            <a:r>
              <a:rPr lang="en-US" sz="1800" dirty="0">
                <a:latin typeface="Times New Roman" panose="02020603050405020304" pitchFamily="18" charset="0"/>
                <a:cs typeface="Times New Roman" panose="02020603050405020304" pitchFamily="18" charset="0"/>
              </a:rPr>
              <a:t>Machine learning models including Neural Networks, Random Forest, and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were trained on drug–drug pair features to learn interaction patterns and predict potential drug–drug interactions.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5. Ensemble Prediction: </a:t>
            </a:r>
            <a:r>
              <a:rPr lang="en-US" sz="1800" dirty="0">
                <a:latin typeface="Times New Roman" panose="02020603050405020304" pitchFamily="18" charset="0"/>
                <a:cs typeface="Times New Roman" panose="02020603050405020304" pitchFamily="18" charset="0"/>
              </a:rPr>
              <a:t>Predictions from multiple models were combined using ensemble learning to improve prediction accuracy and reliability, producing the final drug interaction risk score.</a:t>
            </a:r>
          </a:p>
        </p:txBody>
      </p:sp>
      <p:sp>
        <p:nvSpPr>
          <p:cNvPr id="4" name="Footer Placeholder 3">
            <a:extLst>
              <a:ext uri="{FF2B5EF4-FFF2-40B4-BE49-F238E27FC236}">
                <a16:creationId xmlns:a16="http://schemas.microsoft.com/office/drawing/2014/main" id="{68EA7A0F-BFF3-0B05-1484-5572BD7D4F24}"/>
              </a:ext>
            </a:extLst>
          </p:cNvPr>
          <p:cNvSpPr>
            <a:spLocks noGrp="1"/>
          </p:cNvSpPr>
          <p:nvPr>
            <p:ph type="ftr" sz="quarter" idx="11"/>
          </p:nvPr>
        </p:nvSpPr>
        <p:spPr>
          <a:xfrm>
            <a:off x="4683841" y="6343191"/>
            <a:ext cx="2824316" cy="365125"/>
          </a:xfrm>
        </p:spPr>
        <p:txBody>
          <a:bodyPr/>
          <a:lstStyle/>
          <a:p>
            <a:r>
              <a:rPr lang="en-US" dirty="0"/>
              <a:t>Paper ID : 2602167             Category : UG </a:t>
            </a:r>
          </a:p>
        </p:txBody>
      </p:sp>
    </p:spTree>
    <p:extLst>
      <p:ext uri="{BB962C8B-B14F-4D97-AF65-F5344CB8AC3E}">
        <p14:creationId xmlns:p14="http://schemas.microsoft.com/office/powerpoint/2010/main" val="3213003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5BDF-8A87-FE3F-D641-4F43D6451373}"/>
              </a:ext>
            </a:extLst>
          </p:cNvPr>
          <p:cNvSpPr>
            <a:spLocks noGrp="1"/>
          </p:cNvSpPr>
          <p:nvPr>
            <p:ph type="title"/>
          </p:nvPr>
        </p:nvSpPr>
        <p:spPr>
          <a:xfrm>
            <a:off x="3901562" y="288001"/>
            <a:ext cx="4388875" cy="797794"/>
          </a:xfrm>
        </p:spPr>
        <p:txBody>
          <a:bodyPr/>
          <a:lstStyle/>
          <a:p>
            <a:r>
              <a:rPr lang="en-US" b="1" spc="22" dirty="0">
                <a:latin typeface="Times New Roman" panose="02020603050405020304" pitchFamily="18" charset="0"/>
                <a:cs typeface="Times New Roman" panose="02020603050405020304" pitchFamily="18" charset="0"/>
              </a:rPr>
              <a:t>KEY FINDINGS</a:t>
            </a:r>
            <a:endParaRPr lang="en-IN" dirty="0"/>
          </a:p>
        </p:txBody>
      </p:sp>
      <p:sp>
        <p:nvSpPr>
          <p:cNvPr id="3" name="Content Placeholder 2">
            <a:extLst>
              <a:ext uri="{FF2B5EF4-FFF2-40B4-BE49-F238E27FC236}">
                <a16:creationId xmlns:a16="http://schemas.microsoft.com/office/drawing/2014/main" id="{B4179252-52F3-5E06-4BDD-33AFD79D5928}"/>
              </a:ext>
            </a:extLst>
          </p:cNvPr>
          <p:cNvSpPr>
            <a:spLocks noGrp="1"/>
          </p:cNvSpPr>
          <p:nvPr>
            <p:ph idx="1"/>
          </p:nvPr>
        </p:nvSpPr>
        <p:spPr>
          <a:xfrm>
            <a:off x="838198" y="1238092"/>
            <a:ext cx="10515600" cy="4686431"/>
          </a:xfrm>
        </p:spPr>
        <p:txBody>
          <a:bodyPr>
            <a:noAutofit/>
          </a:bodyPr>
          <a:lstStyle/>
          <a:p>
            <a:pPr marL="0" indent="0">
              <a:lnSpc>
                <a:spcPct val="120000"/>
              </a:lnSpc>
              <a:buNone/>
            </a:pPr>
            <a:r>
              <a:rPr lang="en-US" sz="1800" b="1" dirty="0">
                <a:latin typeface="Times New Roman" panose="02020603050405020304" pitchFamily="18" charset="0"/>
                <a:cs typeface="Times New Roman" panose="02020603050405020304" pitchFamily="18" charset="0"/>
              </a:rPr>
              <a:t>1. Improved Prediction Accuracy: </a:t>
            </a:r>
            <a:r>
              <a:rPr lang="en-US" sz="1800" dirty="0">
                <a:latin typeface="Times New Roman" panose="02020603050405020304" pitchFamily="18" charset="0"/>
                <a:cs typeface="Times New Roman" panose="02020603050405020304" pitchFamily="18" charset="0"/>
              </a:rPr>
              <a:t>The proposed </a:t>
            </a:r>
            <a:r>
              <a:rPr lang="en-US" sz="1800" dirty="0" err="1">
                <a:latin typeface="Times New Roman" panose="02020603050405020304" pitchFamily="18" charset="0"/>
                <a:cs typeface="Times New Roman" panose="02020603050405020304" pitchFamily="18" charset="0"/>
              </a:rPr>
              <a:t>GraphRxInsight</a:t>
            </a:r>
            <a:r>
              <a:rPr lang="en-US" sz="1800" dirty="0">
                <a:latin typeface="Times New Roman" panose="02020603050405020304" pitchFamily="18" charset="0"/>
                <a:cs typeface="Times New Roman" panose="02020603050405020304" pitchFamily="18" charset="0"/>
              </a:rPr>
              <a:t> model achieved high prediction performance, reaching an accuracy of approximately </a:t>
            </a:r>
            <a:r>
              <a:rPr lang="en-US" sz="1800" b="1" dirty="0">
                <a:latin typeface="Times New Roman" panose="02020603050405020304" pitchFamily="18" charset="0"/>
                <a:cs typeface="Times New Roman" panose="02020603050405020304" pitchFamily="18" charset="0"/>
              </a:rPr>
              <a:t>93–94%</a:t>
            </a:r>
            <a:r>
              <a:rPr lang="en-US" sz="1800" dirty="0">
                <a:latin typeface="Times New Roman" panose="02020603050405020304" pitchFamily="18" charset="0"/>
                <a:cs typeface="Times New Roman" panose="02020603050405020304" pitchFamily="18" charset="0"/>
              </a:rPr>
              <a:t>, demonstrating the effectiveness of multi-source feature integration for drug–drug interaction prediction.</a:t>
            </a:r>
          </a:p>
          <a:p>
            <a:pPr marL="0" indent="0">
              <a:lnSpc>
                <a:spcPct val="120000"/>
              </a:lnSpc>
              <a:buNone/>
            </a:pPr>
            <a:r>
              <a:rPr lang="en-US" sz="1800" b="1" dirty="0">
                <a:latin typeface="Times New Roman" panose="02020603050405020304" pitchFamily="18" charset="0"/>
                <a:cs typeface="Times New Roman" panose="02020603050405020304" pitchFamily="18" charset="0"/>
              </a:rPr>
              <a:t>2. Effectiveness of Multi-Feature Integration: </a:t>
            </a:r>
            <a:r>
              <a:rPr lang="en-US" sz="1800" dirty="0">
                <a:latin typeface="Times New Roman" panose="02020603050405020304" pitchFamily="18" charset="0"/>
                <a:cs typeface="Times New Roman" panose="02020603050405020304" pitchFamily="18" charset="0"/>
              </a:rPr>
              <a:t>Combining graph embeddings, ATC features, chemical fingerprints, biological features, and side-effect data significantly improved model performance compared to using single-feature approaches.</a:t>
            </a:r>
          </a:p>
          <a:p>
            <a:pPr marL="0" indent="0">
              <a:lnSpc>
                <a:spcPct val="120000"/>
              </a:lnSpc>
              <a:buNone/>
            </a:pPr>
            <a:r>
              <a:rPr lang="en-US" sz="1800" b="1" dirty="0">
                <a:latin typeface="Times New Roman" panose="02020603050405020304" pitchFamily="18" charset="0"/>
                <a:cs typeface="Times New Roman" panose="02020603050405020304" pitchFamily="18" charset="0"/>
              </a:rPr>
              <a:t>3. Ensemble Learning Performance: </a:t>
            </a:r>
            <a:r>
              <a:rPr lang="en-US" sz="1800" dirty="0">
                <a:latin typeface="Times New Roman" panose="02020603050405020304" pitchFamily="18" charset="0"/>
                <a:cs typeface="Times New Roman" panose="02020603050405020304" pitchFamily="18" charset="0"/>
              </a:rPr>
              <a:t>Among the tested models, the ensemble and Random Forest models showed the most stable and accurate predictions, providing better generalization on unseen drug interaction data.</a:t>
            </a:r>
          </a:p>
          <a:p>
            <a:pPr marL="0" indent="0">
              <a:lnSpc>
                <a:spcPct val="120000"/>
              </a:lnSpc>
              <a:buNone/>
            </a:pPr>
            <a:r>
              <a:rPr lang="en-US" sz="1800" b="1" dirty="0">
                <a:latin typeface="Times New Roman" panose="02020603050405020304" pitchFamily="18" charset="0"/>
                <a:cs typeface="Times New Roman" panose="02020603050405020304" pitchFamily="18" charset="0"/>
              </a:rPr>
              <a:t>4. Polypharmacy Risk Identification: </a:t>
            </a:r>
            <a:r>
              <a:rPr lang="en-US" sz="1800" dirty="0">
                <a:latin typeface="Times New Roman" panose="02020603050405020304" pitchFamily="18" charset="0"/>
                <a:cs typeface="Times New Roman" panose="02020603050405020304" pitchFamily="18" charset="0"/>
              </a:rPr>
              <a:t>The system successfully identified high-risk drug combinations and demonstrated the capability to analyze interaction risks in multi-drug scenarios, supporting polypharmacy safety analysis.</a:t>
            </a:r>
          </a:p>
          <a:p>
            <a:pPr marL="0" indent="0">
              <a:lnSpc>
                <a:spcPct val="120000"/>
              </a:lnSpc>
              <a:buNone/>
            </a:pPr>
            <a:r>
              <a:rPr lang="en-US" sz="1800" b="1" dirty="0">
                <a:latin typeface="Times New Roman" panose="02020603050405020304" pitchFamily="18" charset="0"/>
                <a:cs typeface="Times New Roman" panose="02020603050405020304" pitchFamily="18" charset="0"/>
              </a:rPr>
              <a:t>5. Practical Clinical Applicability: </a:t>
            </a:r>
            <a:r>
              <a:rPr lang="en-US" sz="1800" dirty="0">
                <a:latin typeface="Times New Roman" panose="02020603050405020304" pitchFamily="18" charset="0"/>
                <a:cs typeface="Times New Roman" panose="02020603050405020304" pitchFamily="18" charset="0"/>
              </a:rPr>
              <a:t>The developed system provides interpretable interaction risk scores and side-effect analysis, making it suitable for real-world clinical decision support and drug safety evaluation.</a:t>
            </a:r>
          </a:p>
        </p:txBody>
      </p:sp>
      <p:sp>
        <p:nvSpPr>
          <p:cNvPr id="4" name="Footer Placeholder 3">
            <a:extLst>
              <a:ext uri="{FF2B5EF4-FFF2-40B4-BE49-F238E27FC236}">
                <a16:creationId xmlns:a16="http://schemas.microsoft.com/office/drawing/2014/main" id="{ED20B3C3-1957-8241-C36B-996F05572150}"/>
              </a:ext>
            </a:extLst>
          </p:cNvPr>
          <p:cNvSpPr>
            <a:spLocks noGrp="1"/>
          </p:cNvSpPr>
          <p:nvPr>
            <p:ph type="ftr" sz="quarter" idx="11"/>
          </p:nvPr>
        </p:nvSpPr>
        <p:spPr>
          <a:xfrm>
            <a:off x="4719636" y="6387415"/>
            <a:ext cx="2752725" cy="365125"/>
          </a:xfrm>
        </p:spPr>
        <p:txBody>
          <a:bodyPr/>
          <a:lstStyle/>
          <a:p>
            <a:r>
              <a:rPr lang="en-US" dirty="0"/>
              <a:t>Paper ID : 2602167             Category : UG </a:t>
            </a:r>
          </a:p>
        </p:txBody>
      </p:sp>
    </p:spTree>
    <p:extLst>
      <p:ext uri="{BB962C8B-B14F-4D97-AF65-F5344CB8AC3E}">
        <p14:creationId xmlns:p14="http://schemas.microsoft.com/office/powerpoint/2010/main" val="4140112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F827-611B-E8EE-7323-F5AA0FC583FB}"/>
              </a:ext>
            </a:extLst>
          </p:cNvPr>
          <p:cNvSpPr>
            <a:spLocks noGrp="1"/>
          </p:cNvSpPr>
          <p:nvPr>
            <p:ph type="title"/>
          </p:nvPr>
        </p:nvSpPr>
        <p:spPr>
          <a:xfrm>
            <a:off x="2488790" y="317497"/>
            <a:ext cx="7214419" cy="738801"/>
          </a:xfrm>
        </p:spPr>
        <p:txBody>
          <a:bodyPr/>
          <a:lstStyle/>
          <a:p>
            <a:r>
              <a:rPr lang="en-US" b="1" spc="210" dirty="0">
                <a:latin typeface="Times New Roman" panose="02020603050405020304" pitchFamily="18" charset="0"/>
                <a:cs typeface="Times New Roman" panose="02020603050405020304" pitchFamily="18" charset="0"/>
              </a:rPr>
              <a:t>RESULT &amp; DISCUSSION</a:t>
            </a:r>
            <a:endParaRPr lang="en-IN" dirty="0"/>
          </a:p>
        </p:txBody>
      </p:sp>
      <p:sp>
        <p:nvSpPr>
          <p:cNvPr id="3" name="Content Placeholder 2">
            <a:extLst>
              <a:ext uri="{FF2B5EF4-FFF2-40B4-BE49-F238E27FC236}">
                <a16:creationId xmlns:a16="http://schemas.microsoft.com/office/drawing/2014/main" id="{5638FCD8-7CF5-57B5-0381-A30022F5EF2C}"/>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 The proposed </a:t>
            </a:r>
            <a:r>
              <a:rPr lang="en-US" b="1" dirty="0" err="1">
                <a:latin typeface="Times New Roman" panose="02020603050405020304" pitchFamily="18" charset="0"/>
                <a:cs typeface="Times New Roman" panose="02020603050405020304" pitchFamily="18" charset="0"/>
              </a:rPr>
              <a:t>GraphRxInsight</a:t>
            </a:r>
            <a:r>
              <a:rPr lang="en-US" b="1" dirty="0">
                <a:latin typeface="Times New Roman" panose="02020603050405020304" pitchFamily="18" charset="0"/>
                <a:cs typeface="Times New Roman" panose="02020603050405020304" pitchFamily="18" charset="0"/>
              </a:rPr>
              <a:t> framework</a:t>
            </a:r>
            <a:r>
              <a:rPr lang="en-US" dirty="0">
                <a:latin typeface="Times New Roman" panose="02020603050405020304" pitchFamily="18" charset="0"/>
                <a:cs typeface="Times New Roman" panose="02020603050405020304" pitchFamily="18" charset="0"/>
              </a:rPr>
              <a:t> was developed to predict drug–drug interactions using a combination of graph embeddings, chemical features, ATC classifications, biological features, and side-effect information. The model was trained on a large-scale dataset derived from </a:t>
            </a:r>
            <a:r>
              <a:rPr lang="en-US" dirty="0" err="1">
                <a:latin typeface="Times New Roman" panose="02020603050405020304" pitchFamily="18" charset="0"/>
                <a:cs typeface="Times New Roman" panose="02020603050405020304" pitchFamily="18" charset="0"/>
              </a:rPr>
              <a:t>DrugBank</a:t>
            </a:r>
            <a:r>
              <a:rPr lang="en-US" dirty="0">
                <a:latin typeface="Times New Roman" panose="02020603050405020304" pitchFamily="18" charset="0"/>
                <a:cs typeface="Times New Roman" panose="02020603050405020304" pitchFamily="18" charset="0"/>
              </a:rPr>
              <a:t> and other biomedical sources.</a:t>
            </a:r>
          </a:p>
          <a:p>
            <a:pPr marL="0" indent="0">
              <a:buNone/>
            </a:pPr>
            <a:r>
              <a:rPr lang="en-US" dirty="0">
                <a:latin typeface="Times New Roman" panose="02020603050405020304" pitchFamily="18" charset="0"/>
                <a:cs typeface="Times New Roman" panose="02020603050405020304" pitchFamily="18" charset="0"/>
              </a:rPr>
              <a:t> The high accuracy achieved by the model indicates that </a:t>
            </a:r>
            <a:r>
              <a:rPr lang="en-US" b="1" dirty="0">
                <a:latin typeface="Times New Roman" panose="02020603050405020304" pitchFamily="18" charset="0"/>
                <a:cs typeface="Times New Roman" panose="02020603050405020304" pitchFamily="18" charset="0"/>
              </a:rPr>
              <a:t>integrating multiple biomedical data sources improves drug interaction prediction performance</a:t>
            </a:r>
            <a:r>
              <a:rPr lang="en-US" dirty="0">
                <a:latin typeface="Times New Roman" panose="02020603050405020304" pitchFamily="18" charset="0"/>
                <a:cs typeface="Times New Roman" panose="02020603050405020304" pitchFamily="18" charset="0"/>
              </a:rPr>
              <a:t>. Graph embeddings captured structural relationships between drugs, while chemical and biological features provided molecular-level information.</a:t>
            </a:r>
          </a:p>
          <a:p>
            <a:pPr marL="0" indent="0">
              <a:buNone/>
            </a:pPr>
            <a:endParaRPr lang="en-IN" dirty="0"/>
          </a:p>
        </p:txBody>
      </p:sp>
      <p:sp>
        <p:nvSpPr>
          <p:cNvPr id="4" name="Footer Placeholder 3">
            <a:extLst>
              <a:ext uri="{FF2B5EF4-FFF2-40B4-BE49-F238E27FC236}">
                <a16:creationId xmlns:a16="http://schemas.microsoft.com/office/drawing/2014/main" id="{8C1B37BC-995F-3216-4AB6-CA7E961E8DB7}"/>
              </a:ext>
            </a:extLst>
          </p:cNvPr>
          <p:cNvSpPr>
            <a:spLocks noGrp="1"/>
          </p:cNvSpPr>
          <p:nvPr>
            <p:ph type="ftr" sz="quarter" idx="11"/>
          </p:nvPr>
        </p:nvSpPr>
        <p:spPr>
          <a:xfrm>
            <a:off x="4695824" y="6357940"/>
            <a:ext cx="2800350" cy="365125"/>
          </a:xfrm>
        </p:spPr>
        <p:txBody>
          <a:bodyPr/>
          <a:lstStyle/>
          <a:p>
            <a:r>
              <a:rPr lang="en-US" dirty="0"/>
              <a:t>Paper ID : 2602167             Category : UG  </a:t>
            </a:r>
          </a:p>
        </p:txBody>
      </p:sp>
    </p:spTree>
    <p:extLst>
      <p:ext uri="{BB962C8B-B14F-4D97-AF65-F5344CB8AC3E}">
        <p14:creationId xmlns:p14="http://schemas.microsoft.com/office/powerpoint/2010/main" val="239960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19B0-7569-4718-B9DF-FB537932F407}"/>
              </a:ext>
            </a:extLst>
          </p:cNvPr>
          <p:cNvSpPr>
            <a:spLocks noGrp="1"/>
          </p:cNvSpPr>
          <p:nvPr>
            <p:ph type="title"/>
          </p:nvPr>
        </p:nvSpPr>
        <p:spPr>
          <a:xfrm>
            <a:off x="3936590" y="80488"/>
            <a:ext cx="4318819" cy="788972"/>
          </a:xfrm>
        </p:spPr>
        <p:txBody>
          <a:bodyPr>
            <a:normAutofit/>
          </a:bodyPr>
          <a:lstStyle/>
          <a:p>
            <a:r>
              <a:rPr lang="en-US" b="1" spc="22"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BC12C9-5B22-4DD8-9900-204BDE96E6FF}"/>
              </a:ext>
            </a:extLst>
          </p:cNvPr>
          <p:cNvSpPr>
            <a:spLocks noGrp="1"/>
          </p:cNvSpPr>
          <p:nvPr>
            <p:ph idx="1"/>
          </p:nvPr>
        </p:nvSpPr>
        <p:spPr>
          <a:xfrm>
            <a:off x="838200" y="1337188"/>
            <a:ext cx="10515600" cy="5045838"/>
          </a:xfrm>
        </p:spPr>
        <p:txBody>
          <a:bodyPr>
            <a:normAutofit/>
          </a:bodyPr>
          <a:lstStyle/>
          <a:p>
            <a:pPr marL="0" marR="487680" lvl="0" indent="0" algn="just" fontAlgn="base">
              <a:lnSpc>
                <a:spcPct val="149000"/>
              </a:lnSpc>
              <a:spcBef>
                <a:spcPts val="0"/>
              </a:spcBef>
              <a:spcAft>
                <a:spcPts val="0"/>
              </a:spcAft>
              <a:buClr>
                <a:srgbClr val="000000"/>
              </a:buClr>
              <a:buSzPts val="1200"/>
              <a:buNone/>
            </a:pPr>
            <a:r>
              <a:rPr lang="en-US" sz="1800" b="1"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  </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 </a:t>
            </a:r>
            <a:r>
              <a:rPr lang="en-US" sz="1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Ahn</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“Novel deep learning model for more accurate prediction of drug–drug interaction effects,” BMC Bioinformatics, vol. 20, art. no. 415, Aug. 2019. </a:t>
            </a: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487680" lvl="0" indent="0" algn="just" fontAlgn="base">
              <a:lnSpc>
                <a:spcPct val="149000"/>
              </a:lnSpc>
              <a:spcBef>
                <a:spcPts val="0"/>
              </a:spcBef>
              <a:spcAft>
                <a:spcPts val="0"/>
              </a:spcAft>
              <a:buClr>
                <a:srgbClr val="000000"/>
              </a:buClr>
              <a:buSzPts val="1200"/>
              <a:buNone/>
            </a:pPr>
            <a:r>
              <a:rPr lang="en-US" sz="1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[2] </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J. Smith, A. Doe, and M. Chen, “Deep learning improves prediction of drug–drug and drug– food interactions,” Proc. Natl. Acad. Sci. U.S.A., vol. 115, no. 18, pp. E4304–E4311, Apr. 2018. </a:t>
            </a:r>
          </a:p>
          <a:p>
            <a:pPr marL="0" marR="487680" lvl="0" indent="0" algn="just" fontAlgn="base">
              <a:lnSpc>
                <a:spcPct val="149000"/>
              </a:lnSpc>
              <a:spcBef>
                <a:spcPts val="0"/>
              </a:spcBef>
              <a:spcAft>
                <a:spcPts val="0"/>
              </a:spcAft>
              <a:buClr>
                <a:srgbClr val="000000"/>
              </a:buClr>
              <a:buSzPts val="1200"/>
              <a:buNone/>
            </a:pPr>
            <a:r>
              <a:rPr lang="en-US" sz="1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[3] </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Y. Deng, X. Xu, Y. </a:t>
            </a:r>
            <a:r>
              <a:rPr lang="en-US" sz="1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Qiu</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J. Xia, W. Zhang, and S. Liang, “A multimodal deep learning framework for predicting drug–drug interaction events,” BMC Bioinformatics, vol. 21, art. no. 1, 2020. </a:t>
            </a: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487680" lvl="0" indent="0" algn="just" fontAlgn="base">
              <a:lnSpc>
                <a:spcPct val="149000"/>
              </a:lnSpc>
              <a:spcBef>
                <a:spcPts val="0"/>
              </a:spcBef>
              <a:spcAft>
                <a:spcPts val="0"/>
              </a:spcAft>
              <a:buClr>
                <a:srgbClr val="000000"/>
              </a:buClr>
              <a:buSzPts val="1200"/>
              <a:buNone/>
            </a:pPr>
            <a:r>
              <a:rPr lang="en-US" sz="1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[4]</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 Halder, B. </a:t>
            </a:r>
            <a:r>
              <a:rPr lang="en-US" sz="1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Saha</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M. Roy, and S. Majumder, “A novel deep sequential learning architecture for drug–drug interaction prediction using </a:t>
            </a:r>
            <a:r>
              <a:rPr lang="en-US" sz="1800" u="none" strike="noStrike"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DDINet</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Scientific Reports, vol. 15, art. no. 9337, 2025. </a:t>
            </a:r>
            <a:endParaRPr lang="en-US" sz="1800" dirty="0">
              <a:solidFill>
                <a:srgbClr val="000000"/>
              </a:solidFill>
              <a:effectLst/>
              <a:latin typeface="Times New Roman" panose="02020603050405020304" pitchFamily="18" charset="0"/>
              <a:ea typeface="Times New Roman" panose="02020603050405020304" pitchFamily="18" charset="0"/>
            </a:endParaRPr>
          </a:p>
          <a:p>
            <a:pPr marL="0" marR="487680" lvl="0" indent="0" algn="just" fontAlgn="base">
              <a:lnSpc>
                <a:spcPct val="149000"/>
              </a:lnSpc>
              <a:spcBef>
                <a:spcPts val="0"/>
              </a:spcBef>
              <a:spcAft>
                <a:spcPts val="10"/>
              </a:spcAft>
              <a:buClr>
                <a:srgbClr val="000000"/>
              </a:buClr>
              <a:buSzPts val="1200"/>
              <a:buNone/>
            </a:pPr>
            <a:r>
              <a:rPr lang="en-US" sz="1800" b="1"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[5]</a:t>
            </a:r>
            <a:r>
              <a:rPr lang="en-US" sz="1800" u="none" strike="noStrike"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H. Liu, S. Li, and Z. Yu, “Predicting drug–drug interactions using heterogeneous graph neural networks,” in Proc. 4th Int. Conf. Signal Processing and Machine Learning, 2024, pp. 77–85. </a:t>
            </a:r>
          </a:p>
          <a:p>
            <a:pPr marL="0" marR="0" indent="0" algn="l">
              <a:lnSpc>
                <a:spcPct val="107000"/>
              </a:lnSpc>
              <a:spcBef>
                <a:spcPts val="0"/>
              </a:spcBef>
              <a:spcAft>
                <a:spcPts val="560"/>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0" indent="0" algn="just">
              <a:lnSpc>
                <a:spcPct val="120000"/>
              </a:lnSpc>
              <a:buNone/>
            </a:pPr>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AEC5424-0DC2-2406-1056-926ECEE32862}"/>
              </a:ext>
            </a:extLst>
          </p:cNvPr>
          <p:cNvSpPr>
            <a:spLocks noGrp="1"/>
          </p:cNvSpPr>
          <p:nvPr>
            <p:ph type="ftr" sz="quarter" idx="11"/>
          </p:nvPr>
        </p:nvSpPr>
        <p:spPr>
          <a:xfrm>
            <a:off x="4703505" y="6383026"/>
            <a:ext cx="2784987" cy="365125"/>
          </a:xfrm>
        </p:spPr>
        <p:txBody>
          <a:bodyPr/>
          <a:lstStyle/>
          <a:p>
            <a:r>
              <a:rPr lang="en-US" dirty="0"/>
              <a:t>Paper ID : 2602167            Category : UG </a:t>
            </a:r>
          </a:p>
        </p:txBody>
      </p:sp>
    </p:spTree>
    <p:extLst>
      <p:ext uri="{BB962C8B-B14F-4D97-AF65-F5344CB8AC3E}">
        <p14:creationId xmlns:p14="http://schemas.microsoft.com/office/powerpoint/2010/main" val="3154342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E6052-7750-0399-95F6-CA14BD682B8B}"/>
              </a:ext>
            </a:extLst>
          </p:cNvPr>
          <p:cNvSpPr>
            <a:spLocks noGrp="1"/>
          </p:cNvSpPr>
          <p:nvPr>
            <p:ph type="title"/>
          </p:nvPr>
        </p:nvSpPr>
        <p:spPr>
          <a:xfrm>
            <a:off x="4007874" y="224091"/>
            <a:ext cx="4176252" cy="748633"/>
          </a:xfrm>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356E23-17E4-7FF7-CDAB-E30A19B20C58}"/>
              </a:ext>
            </a:extLst>
          </p:cNvPr>
          <p:cNvSpPr>
            <a:spLocks noGrp="1"/>
          </p:cNvSpPr>
          <p:nvPr>
            <p:ph idx="1"/>
          </p:nvPr>
        </p:nvSpPr>
        <p:spPr>
          <a:xfrm>
            <a:off x="838199" y="1253331"/>
            <a:ext cx="10515600" cy="4351338"/>
          </a:xfrm>
        </p:spPr>
        <p:txBody>
          <a:bodyPr>
            <a:noAutofit/>
          </a:bodyPr>
          <a:lstStyle/>
          <a:p>
            <a:pPr marL="0" indent="0">
              <a:lnSpc>
                <a:spcPct val="100000"/>
              </a:lnSpc>
              <a:buNone/>
            </a:pPr>
            <a:r>
              <a:rPr lang="en-US" sz="2000" dirty="0">
                <a:latin typeface="Times New Roman" panose="02020603050405020304" pitchFamily="18" charset="0"/>
                <a:cs typeface="Times New Roman" panose="02020603050405020304" pitchFamily="18" charset="0"/>
              </a:rPr>
              <a:t> This study developed </a:t>
            </a:r>
            <a:r>
              <a:rPr lang="en-US" sz="2000" b="1" dirty="0" err="1">
                <a:latin typeface="Times New Roman" panose="02020603050405020304" pitchFamily="18" charset="0"/>
                <a:cs typeface="Times New Roman" panose="02020603050405020304" pitchFamily="18" charset="0"/>
              </a:rPr>
              <a:t>GraphRxInsight</a:t>
            </a:r>
            <a:r>
              <a:rPr lang="en-US" sz="2000" dirty="0">
                <a:latin typeface="Times New Roman" panose="02020603050405020304" pitchFamily="18" charset="0"/>
                <a:cs typeface="Times New Roman" panose="02020603050405020304" pitchFamily="18" charset="0"/>
              </a:rPr>
              <a:t>, an AI-based framework for predicting drug–drug interactions using integrated drug features including graph embeddings, chemical structures, biological information, and side-effect data. The proposed system achieved strong predictive performance with an accuracy of approximately </a:t>
            </a:r>
            <a:r>
              <a:rPr lang="en-US" sz="2000" b="1" dirty="0">
                <a:latin typeface="Times New Roman" panose="02020603050405020304" pitchFamily="18" charset="0"/>
                <a:cs typeface="Times New Roman" panose="02020603050405020304" pitchFamily="18" charset="0"/>
              </a:rPr>
              <a:t>93–94%</a:t>
            </a:r>
            <a:r>
              <a:rPr lang="en-US" sz="2000" dirty="0">
                <a:latin typeface="Times New Roman" panose="02020603050405020304" pitchFamily="18" charset="0"/>
                <a:cs typeface="Times New Roman" panose="02020603050405020304" pitchFamily="18" charset="0"/>
              </a:rPr>
              <a:t>, demonstrating the effectiveness of multi-feature learning and ensemble modeling for reliable interaction prediction. A </a:t>
            </a:r>
            <a:r>
              <a:rPr lang="en-US" sz="2000" b="1" dirty="0">
                <a:latin typeface="Times New Roman" panose="02020603050405020304" pitchFamily="18" charset="0"/>
                <a:cs typeface="Times New Roman" panose="02020603050405020304" pitchFamily="18" charset="0"/>
              </a:rPr>
              <a:t>dynamic learning model</a:t>
            </a:r>
            <a:r>
              <a:rPr lang="en-US" sz="2000" dirty="0">
                <a:latin typeface="Times New Roman" panose="02020603050405020304" pitchFamily="18" charset="0"/>
                <a:cs typeface="Times New Roman" panose="02020603050405020304" pitchFamily="18" charset="0"/>
              </a:rPr>
              <a:t> was also designed to enable continuous retraining as new drug data becomes available, improving the adaptability and long-term performance of the system. The framework supports polypharmacy risk analysis and drug safety assessment, and ongoing optimization aims to further improve the model performance toward a target accuracy of </a:t>
            </a:r>
            <a:r>
              <a:rPr lang="en-US" sz="2000" b="1" dirty="0">
                <a:latin typeface="Times New Roman" panose="02020603050405020304" pitchFamily="18" charset="0"/>
                <a:cs typeface="Times New Roman" panose="02020603050405020304" pitchFamily="18" charset="0"/>
              </a:rPr>
              <a:t>98%</a:t>
            </a:r>
            <a:r>
              <a:rPr lang="en-US" sz="2000" dirty="0">
                <a:latin typeface="Times New Roman" panose="02020603050405020304" pitchFamily="18" charset="0"/>
                <a:cs typeface="Times New Roman" panose="02020603050405020304" pitchFamily="18" charset="0"/>
              </a:rPr>
              <a:t>, making it suitable for advanced clinical and pharmaceutical research applications.</a:t>
            </a:r>
          </a:p>
        </p:txBody>
      </p:sp>
      <p:sp>
        <p:nvSpPr>
          <p:cNvPr id="4" name="Footer Placeholder 3">
            <a:extLst>
              <a:ext uri="{FF2B5EF4-FFF2-40B4-BE49-F238E27FC236}">
                <a16:creationId xmlns:a16="http://schemas.microsoft.com/office/drawing/2014/main" id="{97B58C90-5598-1E3A-7F13-959598743E22}"/>
              </a:ext>
            </a:extLst>
          </p:cNvPr>
          <p:cNvSpPr>
            <a:spLocks noGrp="1"/>
          </p:cNvSpPr>
          <p:nvPr>
            <p:ph type="ftr" sz="quarter" idx="11"/>
          </p:nvPr>
        </p:nvSpPr>
        <p:spPr>
          <a:xfrm>
            <a:off x="4681537" y="6356350"/>
            <a:ext cx="2828925" cy="365125"/>
          </a:xfrm>
        </p:spPr>
        <p:txBody>
          <a:bodyPr/>
          <a:lstStyle/>
          <a:p>
            <a:r>
              <a:rPr lang="en-US" dirty="0"/>
              <a:t>Paper ID : 2602167             Category : UG</a:t>
            </a:r>
          </a:p>
        </p:txBody>
      </p:sp>
    </p:spTree>
    <p:extLst>
      <p:ext uri="{BB962C8B-B14F-4D97-AF65-F5344CB8AC3E}">
        <p14:creationId xmlns:p14="http://schemas.microsoft.com/office/powerpoint/2010/main" val="1407729753"/>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3907</TotalTime>
  <Words>1788</Words>
  <Application>Microsoft Macintosh PowerPoint</Application>
  <PresentationFormat>Widescreen</PresentationFormat>
  <Paragraphs>154</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Tahoma</vt:lpstr>
      <vt:lpstr>Times New Roman</vt:lpstr>
      <vt:lpstr>Office Theme</vt:lpstr>
      <vt:lpstr>PowerPoint Presentation</vt:lpstr>
      <vt:lpstr>AGENDA</vt:lpstr>
      <vt:lpstr>ABSTRACT</vt:lpstr>
      <vt:lpstr>INTRODUCTION</vt:lpstr>
      <vt:lpstr>LITERATURE REVIEW</vt:lpstr>
      <vt:lpstr>LITERATURE REVIEW</vt:lpstr>
      <vt:lpstr>LITERATURE REVIEW</vt:lpstr>
      <vt:lpstr>METHODOLOGY</vt:lpstr>
      <vt:lpstr>METHODOLOGY</vt:lpstr>
      <vt:lpstr>KEY FINDINGS</vt:lpstr>
      <vt:lpstr>RESULT &amp; DISCUSSION</vt:lpstr>
      <vt:lpstr>REFERENCES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International Conference on Innovations in Engineering &amp; Sciences (ICIES) 2021</dc:title>
  <dc:creator>Pravin</dc:creator>
  <cp:lastModifiedBy>Microsoft Office User</cp:lastModifiedBy>
  <cp:revision>114</cp:revision>
  <cp:lastPrinted>2026-02-27T08:07:30Z</cp:lastPrinted>
  <dcterms:created xsi:type="dcterms:W3CDTF">2021-03-20T03:55:40Z</dcterms:created>
  <dcterms:modified xsi:type="dcterms:W3CDTF">2026-02-27T08:21:22Z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2023-09-07T05:06:33Z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c778e571-5114-49bf-a4e7-8a47a5f09d20</vt:lpwstr>
  </property>
  <property fmtid="{D5CDD505-2E9C-101B-9397-08002B2CF9AE}" pid="7" name="MSIP_Label_defa4170-0d19-0005-0004-bc88714345d2_ActionId">
    <vt:lpwstr>98b1cca8-9179-4e55-9411-fb2d42ae25cf</vt:lpwstr>
  </property>
  <property fmtid="{D5CDD505-2E9C-101B-9397-08002B2CF9AE}" pid="8" name="MSIP_Label_defa4170-0d19-0005-0004-bc88714345d2_ContentBits">
    <vt:lpwstr>0</vt:lpwstr>
  </property>
</Properties>
</file>